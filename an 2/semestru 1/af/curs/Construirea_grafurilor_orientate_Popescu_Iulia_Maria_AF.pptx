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A0000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488" y="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327CD-560E-488D-94D1-0818E3E6A9A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00A34-9EAC-46A3-AB52-60FC655BEE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402385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327CD-560E-488D-94D1-0818E3E6A9A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B3000A34-9EAC-46A3-AB52-60FC655BEE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278951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327CD-560E-488D-94D1-0818E3E6A9A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00A34-9EAC-46A3-AB52-60FC655BEE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700638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327CD-560E-488D-94D1-0818E3E6A9A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00A34-9EAC-46A3-AB52-60FC655BEE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966671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327CD-560E-488D-94D1-0818E3E6A9A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00A34-9EAC-46A3-AB52-60FC655BEE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053156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327CD-560E-488D-94D1-0818E3E6A9A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00A34-9EAC-46A3-AB52-60FC655BEE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910410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327CD-560E-488D-94D1-0818E3E6A9A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00A34-9EAC-46A3-AB52-60FC655BEE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559203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327CD-560E-488D-94D1-0818E3E6A9A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00A34-9EAC-46A3-AB52-60FC655BEE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130707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327CD-560E-488D-94D1-0818E3E6A9A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00A34-9EAC-46A3-AB52-60FC655BEE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169662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327CD-560E-488D-94D1-0818E3E6A9A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00A34-9EAC-46A3-AB52-60FC655BEE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251241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327CD-560E-488D-94D1-0818E3E6A9A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00A34-9EAC-46A3-AB52-60FC655BEE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820549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327CD-560E-488D-94D1-0818E3E6A9A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00A34-9EAC-46A3-AB52-60FC655BEE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023181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327CD-560E-488D-94D1-0818E3E6A9A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00A34-9EAC-46A3-AB52-60FC655BEE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383384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327CD-560E-488D-94D1-0818E3E6A9A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00A34-9EAC-46A3-AB52-60FC655BEE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257310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327CD-560E-488D-94D1-0818E3E6A9A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00A34-9EAC-46A3-AB52-60FC655BEE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632202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327CD-560E-488D-94D1-0818E3E6A9A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00A34-9EAC-46A3-AB52-60FC655BEE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034925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327CD-560E-488D-94D1-0818E3E6A9A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00A34-9EAC-46A3-AB52-60FC655BEE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12886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20327CD-560E-488D-94D1-0818E3E6A9A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3000A34-9EAC-46A3-AB52-60FC655BEE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84641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A2962-0163-E694-55F9-B5DA5F59A8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1912" y="1380068"/>
            <a:ext cx="9921111" cy="2616199"/>
          </a:xfrm>
        </p:spPr>
        <p:txBody>
          <a:bodyPr>
            <a:normAutofit fontScale="90000"/>
          </a:bodyPr>
          <a:lstStyle/>
          <a:p>
            <a:r>
              <a:rPr lang="ro-RO" noProof="0" dirty="0">
                <a:solidFill>
                  <a:schemeClr val="bg1"/>
                </a:solidFill>
              </a:rPr>
              <a:t>Construirea Grafurilor Orientate din Grade de Intrare și Ieșire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490095-A7D4-7D34-9772-550A29F79C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54951" y="5469466"/>
            <a:ext cx="4297551" cy="1388534"/>
          </a:xfrm>
        </p:spPr>
        <p:txBody>
          <a:bodyPr>
            <a:normAutofit/>
          </a:bodyPr>
          <a:lstStyle/>
          <a:p>
            <a:r>
              <a:rPr lang="en-GB" sz="2400" b="1" dirty="0">
                <a:solidFill>
                  <a:schemeClr val="bg1"/>
                </a:solidFill>
                <a:latin typeface="Georgia" panose="02040502050405020303" pitchFamily="18" charset="0"/>
              </a:rPr>
              <a:t>Student</a:t>
            </a:r>
            <a:r>
              <a:rPr lang="ro-RO" sz="2400" noProof="0" dirty="0">
                <a:solidFill>
                  <a:schemeClr val="bg1"/>
                </a:solidFill>
                <a:latin typeface="Georgia" panose="02040502050405020303" pitchFamily="18" charset="0"/>
              </a:rPr>
              <a:t>: </a:t>
            </a:r>
            <a:r>
              <a:rPr lang="en-GB" sz="2400" noProof="0" dirty="0">
                <a:solidFill>
                  <a:schemeClr val="bg1"/>
                </a:solidFill>
                <a:latin typeface="Georgia" panose="02040502050405020303" pitchFamily="18" charset="0"/>
              </a:rPr>
              <a:t>Popescu Iulia Maria</a:t>
            </a:r>
            <a:endParaRPr lang="ro-RO" sz="2400" noProof="0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044323-8356-5A2C-C608-6DD6F904AF9C}"/>
              </a:ext>
            </a:extLst>
          </p:cNvPr>
          <p:cNvSpPr txBox="1"/>
          <p:nvPr/>
        </p:nvSpPr>
        <p:spPr>
          <a:xfrm>
            <a:off x="2377440" y="484632"/>
            <a:ext cx="110732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b="1" i="1" u="sng" dirty="0">
                <a:solidFill>
                  <a:schemeClr val="accent4">
                    <a:lumMod val="75000"/>
                  </a:schemeClr>
                </a:solidFill>
              </a:rPr>
              <a:t>Algoritmi Fundamentali</a:t>
            </a:r>
            <a:endParaRPr lang="en-GB" sz="3600" b="1" i="1" u="sng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E69294-B3E9-9074-CDBA-01E6A10D7FB8}"/>
              </a:ext>
            </a:extLst>
          </p:cNvPr>
          <p:cNvSpPr txBox="1"/>
          <p:nvPr/>
        </p:nvSpPr>
        <p:spPr>
          <a:xfrm>
            <a:off x="6354951" y="4990406"/>
            <a:ext cx="514807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b="1" noProof="0" dirty="0">
                <a:solidFill>
                  <a:schemeClr val="bg1"/>
                </a:solidFill>
                <a:latin typeface="Georgia" panose="02040502050405020303" pitchFamily="18" charset="0"/>
              </a:rPr>
              <a:t>Profesor</a:t>
            </a:r>
            <a:r>
              <a:rPr lang="ro-RO" sz="2400" dirty="0">
                <a:solidFill>
                  <a:schemeClr val="bg1"/>
                </a:solidFill>
                <a:latin typeface="Georgia" panose="02040502050405020303" pitchFamily="18" charset="0"/>
              </a:rPr>
              <a:t>: </a:t>
            </a:r>
            <a:r>
              <a:rPr lang="ro-RO" sz="2400" noProof="0" dirty="0">
                <a:solidFill>
                  <a:schemeClr val="bg1"/>
                </a:solidFill>
                <a:latin typeface="Georgia" panose="02040502050405020303" pitchFamily="18" charset="0"/>
              </a:rPr>
              <a:t>Dumitran</a:t>
            </a:r>
            <a:r>
              <a:rPr lang="en-GB" sz="2400" dirty="0">
                <a:solidFill>
                  <a:schemeClr val="bg1"/>
                </a:solidFill>
                <a:latin typeface="Georgia" panose="02040502050405020303" pitchFamily="18" charset="0"/>
              </a:rPr>
              <a:t> Marius Adrian</a:t>
            </a:r>
            <a:endParaRPr lang="ro-RO" sz="2400" dirty="0">
              <a:solidFill>
                <a:schemeClr val="bg1"/>
              </a:solidFill>
              <a:latin typeface="Georgia" panose="02040502050405020303" pitchFamily="18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0066513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12AED-E9D7-D061-D792-FDB748849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1288" y="685800"/>
            <a:ext cx="11219687" cy="1752599"/>
          </a:xfrm>
        </p:spPr>
        <p:txBody>
          <a:bodyPr/>
          <a:lstStyle/>
          <a:p>
            <a:r>
              <a:rPr lang="ro-RO" noProof="0" dirty="0">
                <a:solidFill>
                  <a:schemeClr val="bg1"/>
                </a:solidFill>
              </a:rPr>
              <a:t>Teorema Havel-Hakimi (pentru grafuri neorientate)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9C906-EA83-75FE-0FF4-A7F5EB7320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6878" y="1757171"/>
            <a:ext cx="10018713" cy="3628645"/>
          </a:xfrm>
        </p:spPr>
        <p:txBody>
          <a:bodyPr/>
          <a:lstStyle/>
          <a:p>
            <a:pPr marL="0" indent="0" algn="just">
              <a:buNone/>
            </a:pPr>
            <a:r>
              <a:rPr lang="ro-RO" dirty="0">
                <a:solidFill>
                  <a:schemeClr val="bg1"/>
                </a:solidFill>
              </a:rPr>
              <a:t>	</a:t>
            </a:r>
            <a:r>
              <a:rPr lang="en-GB" sz="2600" dirty="0">
                <a:solidFill>
                  <a:schemeClr val="bg1"/>
                </a:solidFill>
              </a:rPr>
              <a:t>O </a:t>
            </a:r>
            <a:r>
              <a:rPr lang="ro-RO" sz="2600" noProof="0" dirty="0">
                <a:solidFill>
                  <a:schemeClr val="bg1"/>
                </a:solidFill>
              </a:rPr>
              <a:t>secven</a:t>
            </a:r>
            <a:r>
              <a:rPr lang="ro-RO" sz="2600" dirty="0">
                <a:solidFill>
                  <a:schemeClr val="bg1"/>
                </a:solidFill>
              </a:rPr>
              <a:t>ță de grade:</a:t>
            </a:r>
          </a:p>
          <a:p>
            <a:pPr marL="0" indent="0" algn="just">
              <a:buNone/>
            </a:pPr>
            <a:r>
              <a:rPr lang="ro-RO" sz="2600" dirty="0">
                <a:solidFill>
                  <a:schemeClr val="bg1"/>
                </a:solidFill>
              </a:rPr>
              <a:t>		 </a:t>
            </a:r>
            <a:r>
              <a:rPr lang="ro-RO" sz="2600" i="1" dirty="0">
                <a:solidFill>
                  <a:srgbClr val="00B050"/>
                </a:solidFill>
              </a:rPr>
              <a:t>a = (d</a:t>
            </a:r>
            <a:r>
              <a:rPr lang="ro-RO" sz="2000" i="1" dirty="0">
                <a:solidFill>
                  <a:srgbClr val="00B050"/>
                </a:solidFill>
              </a:rPr>
              <a:t>1</a:t>
            </a:r>
            <a:r>
              <a:rPr lang="ro-RO" sz="2600" i="1" dirty="0">
                <a:solidFill>
                  <a:srgbClr val="00B050"/>
                </a:solidFill>
              </a:rPr>
              <a:t>, d</a:t>
            </a:r>
            <a:r>
              <a:rPr lang="ro-RO" sz="2000" i="1" dirty="0">
                <a:solidFill>
                  <a:srgbClr val="00B050"/>
                </a:solidFill>
              </a:rPr>
              <a:t>2</a:t>
            </a:r>
            <a:r>
              <a:rPr lang="ro-RO" sz="2600" i="1" dirty="0">
                <a:solidFill>
                  <a:srgbClr val="00B050"/>
                </a:solidFill>
              </a:rPr>
              <a:t>, ..., d</a:t>
            </a:r>
            <a:r>
              <a:rPr lang="ro-RO" sz="2000" i="1" dirty="0">
                <a:solidFill>
                  <a:srgbClr val="00B050"/>
                </a:solidFill>
              </a:rPr>
              <a:t>n</a:t>
            </a:r>
            <a:r>
              <a:rPr lang="ro-RO" sz="2600" i="1" dirty="0">
                <a:solidFill>
                  <a:srgbClr val="00B050"/>
                </a:solidFill>
              </a:rPr>
              <a:t>) </a:t>
            </a:r>
            <a:r>
              <a:rPr lang="ro-RO" sz="2600" dirty="0">
                <a:solidFill>
                  <a:schemeClr val="bg1"/>
                </a:solidFill>
              </a:rPr>
              <a:t>cu </a:t>
            </a:r>
            <a:r>
              <a:rPr lang="en-GB" sz="2600" i="1" dirty="0">
                <a:solidFill>
                  <a:srgbClr val="7030A0"/>
                </a:solidFill>
              </a:rPr>
              <a:t>d</a:t>
            </a:r>
            <a:r>
              <a:rPr lang="en-GB" sz="2000" i="1" dirty="0">
                <a:solidFill>
                  <a:srgbClr val="7030A0"/>
                </a:solidFill>
              </a:rPr>
              <a:t>1</a:t>
            </a:r>
            <a:r>
              <a:rPr lang="en-GB" sz="2600" i="1" dirty="0">
                <a:solidFill>
                  <a:srgbClr val="7030A0"/>
                </a:solidFill>
              </a:rPr>
              <a:t>​≥d</a:t>
            </a:r>
            <a:r>
              <a:rPr lang="en-GB" sz="2000" i="1" dirty="0">
                <a:solidFill>
                  <a:srgbClr val="7030A0"/>
                </a:solidFill>
              </a:rPr>
              <a:t>2</a:t>
            </a:r>
            <a:r>
              <a:rPr lang="en-GB" sz="2600" i="1" dirty="0">
                <a:solidFill>
                  <a:srgbClr val="7030A0"/>
                </a:solidFill>
              </a:rPr>
              <a:t>​≥⋯≥</a:t>
            </a:r>
            <a:r>
              <a:rPr lang="ro-RO" sz="2600" i="1" noProof="0" dirty="0">
                <a:solidFill>
                  <a:srgbClr val="7030A0"/>
                </a:solidFill>
              </a:rPr>
              <a:t>d</a:t>
            </a:r>
            <a:r>
              <a:rPr lang="ro-RO" sz="2000" i="1" noProof="0" dirty="0">
                <a:solidFill>
                  <a:srgbClr val="7030A0"/>
                </a:solidFill>
              </a:rPr>
              <a:t>n</a:t>
            </a:r>
            <a:r>
              <a:rPr lang="en-GB" sz="2600" i="1" dirty="0">
                <a:solidFill>
                  <a:srgbClr val="7030A0"/>
                </a:solidFill>
              </a:rPr>
              <a:t> </a:t>
            </a:r>
            <a:r>
              <a:rPr lang="ro-RO" sz="2600" i="1" dirty="0">
                <a:solidFill>
                  <a:schemeClr val="bg1"/>
                </a:solidFill>
              </a:rPr>
              <a:t>și</a:t>
            </a:r>
            <a:r>
              <a:rPr lang="ro-RO" sz="2600" dirty="0">
                <a:solidFill>
                  <a:schemeClr val="bg1"/>
                </a:solidFill>
              </a:rPr>
              <a:t> </a:t>
            </a:r>
            <a:r>
              <a:rPr lang="ro-RO" sz="2800" i="1" dirty="0">
                <a:solidFill>
                  <a:srgbClr val="7030A0"/>
                </a:solidFill>
              </a:rPr>
              <a:t>d</a:t>
            </a:r>
            <a:r>
              <a:rPr lang="ro-RO" sz="2000" i="1" dirty="0">
                <a:solidFill>
                  <a:srgbClr val="7030A0"/>
                </a:solidFill>
              </a:rPr>
              <a:t>1</a:t>
            </a:r>
            <a:r>
              <a:rPr lang="ro-RO" sz="2600" i="1" dirty="0">
                <a:solidFill>
                  <a:srgbClr val="7030A0"/>
                </a:solidFill>
              </a:rPr>
              <a:t> </a:t>
            </a:r>
            <a:r>
              <a:rPr lang="en-GB" sz="2600" i="1" dirty="0">
                <a:solidFill>
                  <a:srgbClr val="7030A0"/>
                </a:solidFill>
              </a:rPr>
              <a:t>≤</a:t>
            </a:r>
            <a:r>
              <a:rPr lang="ro-RO" sz="2600" i="1" dirty="0">
                <a:solidFill>
                  <a:srgbClr val="7030A0"/>
                </a:solidFill>
              </a:rPr>
              <a:t> n-1 </a:t>
            </a:r>
          </a:p>
          <a:p>
            <a:pPr marL="0" indent="0" algn="just">
              <a:buNone/>
            </a:pPr>
            <a:r>
              <a:rPr lang="ro-RO" sz="2600" i="1" dirty="0">
                <a:solidFill>
                  <a:srgbClr val="7030A0"/>
                </a:solidFill>
              </a:rPr>
              <a:t>	</a:t>
            </a:r>
            <a:r>
              <a:rPr lang="ro-RO" sz="2600" dirty="0">
                <a:solidFill>
                  <a:schemeClr val="bg1"/>
                </a:solidFill>
              </a:rPr>
              <a:t>se numește </a:t>
            </a:r>
            <a:r>
              <a:rPr lang="ro-RO" sz="2600" u="sng" dirty="0">
                <a:solidFill>
                  <a:schemeClr val="bg1"/>
                </a:solidFill>
              </a:rPr>
              <a:t>secvență grafică </a:t>
            </a:r>
            <a:r>
              <a:rPr lang="ro-RO" sz="2600" dirty="0">
                <a:solidFill>
                  <a:schemeClr val="bg1"/>
                </a:solidFill>
              </a:rPr>
              <a:t>(adică există un graf neorientat simplu 	cu n noduri și aceste grade) dacă și numai dacă secvența:</a:t>
            </a:r>
          </a:p>
          <a:p>
            <a:pPr marL="0" indent="0" algn="just">
              <a:buNone/>
            </a:pPr>
            <a:r>
              <a:rPr lang="ro-RO" sz="2600" dirty="0">
                <a:solidFill>
                  <a:schemeClr val="bg1"/>
                </a:solidFill>
              </a:rPr>
              <a:t>		</a:t>
            </a:r>
            <a:r>
              <a:rPr lang="ro-RO" sz="2600" i="1" dirty="0">
                <a:solidFill>
                  <a:srgbClr val="00B050"/>
                </a:solidFill>
              </a:rPr>
              <a:t>b = (d</a:t>
            </a:r>
            <a:r>
              <a:rPr lang="ro-RO" sz="2000" i="1" dirty="0">
                <a:solidFill>
                  <a:srgbClr val="00B050"/>
                </a:solidFill>
              </a:rPr>
              <a:t>2</a:t>
            </a:r>
            <a:r>
              <a:rPr lang="ro-RO" sz="2600" i="1" dirty="0">
                <a:solidFill>
                  <a:srgbClr val="00B050"/>
                </a:solidFill>
              </a:rPr>
              <a:t>-1, ..., d</a:t>
            </a:r>
            <a:r>
              <a:rPr lang="ro-RO" sz="2000" i="1" dirty="0">
                <a:solidFill>
                  <a:srgbClr val="00B050"/>
                </a:solidFill>
              </a:rPr>
              <a:t>d1+1</a:t>
            </a:r>
            <a:r>
              <a:rPr lang="ro-RO" sz="2600" i="1" dirty="0">
                <a:solidFill>
                  <a:srgbClr val="00B050"/>
                </a:solidFill>
              </a:rPr>
              <a:t> -1, d</a:t>
            </a:r>
            <a:r>
              <a:rPr lang="ro-RO" sz="2000" i="1" dirty="0">
                <a:solidFill>
                  <a:srgbClr val="00B050"/>
                </a:solidFill>
              </a:rPr>
              <a:t>d1+2</a:t>
            </a:r>
            <a:r>
              <a:rPr lang="ro-RO" sz="2600" i="1" dirty="0">
                <a:solidFill>
                  <a:srgbClr val="00B050"/>
                </a:solidFill>
              </a:rPr>
              <a:t>, ..., d</a:t>
            </a:r>
            <a:r>
              <a:rPr lang="ro-RO" sz="2000" i="1" dirty="0">
                <a:solidFill>
                  <a:srgbClr val="00B050"/>
                </a:solidFill>
              </a:rPr>
              <a:t>n</a:t>
            </a:r>
            <a:r>
              <a:rPr lang="ro-RO" sz="2600" i="1" dirty="0">
                <a:solidFill>
                  <a:srgbClr val="00B050"/>
                </a:solidFill>
              </a:rPr>
              <a:t>) </a:t>
            </a:r>
            <a:r>
              <a:rPr lang="ro-RO" sz="2600" dirty="0">
                <a:solidFill>
                  <a:schemeClr val="bg1"/>
                </a:solidFill>
              </a:rPr>
              <a:t>este grafică</a:t>
            </a:r>
            <a:endParaRPr lang="en-GB" sz="2600" dirty="0">
              <a:solidFill>
                <a:schemeClr val="bg1"/>
              </a:solidFill>
            </a:endParaRPr>
          </a:p>
        </p:txBody>
      </p:sp>
      <p:pic>
        <p:nvPicPr>
          <p:cNvPr id="1028" name="Picture 4" descr="Ilustrații Stock Emoticon De Gândire, Vectori și Clipart ...">
            <a:extLst>
              <a:ext uri="{FF2B5EF4-FFF2-40B4-BE49-F238E27FC236}">
                <a16:creationId xmlns:a16="http://schemas.microsoft.com/office/drawing/2014/main" id="{836CC483-C971-4E99-E04B-58225572CE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21" b="95635" l="9125" r="96750">
                        <a14:foregroundMark x1="28375" y1="36772" x2="17750" y2="44444"/>
                        <a14:foregroundMark x1="17750" y1="44444" x2="21125" y2="65079"/>
                        <a14:foregroundMark x1="21125" y1="65079" x2="57000" y2="74603"/>
                        <a14:foregroundMark x1="57000" y1="74603" x2="73625" y2="58862"/>
                        <a14:foregroundMark x1="73625" y1="58862" x2="65375" y2="43651"/>
                        <a14:foregroundMark x1="65375" y1="43651" x2="51750" y2="36243"/>
                        <a14:foregroundMark x1="51750" y1="36243" x2="32625" y2="34392"/>
                        <a14:foregroundMark x1="32625" y1="34392" x2="24000" y2="36508"/>
                        <a14:foregroundMark x1="24000" y1="36508" x2="23500" y2="38228"/>
                        <a14:foregroundMark x1="30625" y1="39683" x2="20750" y2="54233"/>
                        <a14:foregroundMark x1="20750" y1="54233" x2="30250" y2="66005"/>
                        <a14:foregroundMark x1="30250" y1="66005" x2="42250" y2="59524"/>
                        <a14:foregroundMark x1="42250" y1="59524" x2="43250" y2="45767"/>
                        <a14:foregroundMark x1="43250" y1="45767" x2="32375" y2="39418"/>
                        <a14:foregroundMark x1="32375" y1="39418" x2="26250" y2="40873"/>
                        <a14:foregroundMark x1="40000" y1="46958" x2="40875" y2="54497"/>
                        <a14:foregroundMark x1="40875" y1="54497" x2="38875" y2="47751"/>
                        <a14:foregroundMark x1="38875" y1="47751" x2="37875" y2="47751"/>
                        <a14:foregroundMark x1="35750" y1="45503" x2="31875" y2="58598"/>
                        <a14:foregroundMark x1="31875" y1="58598" x2="44125" y2="58466"/>
                        <a14:foregroundMark x1="44125" y1="58466" x2="43500" y2="47751"/>
                        <a14:foregroundMark x1="43500" y1="47751" x2="32875" y2="45106"/>
                        <a14:foregroundMark x1="32875" y1="45106" x2="30750" y2="46693"/>
                        <a14:foregroundMark x1="35125" y1="46958" x2="29875" y2="48545"/>
                        <a14:foregroundMark x1="36250" y1="49868" x2="34500" y2="51190"/>
                        <a14:foregroundMark x1="35375" y1="48942" x2="36375" y2="51852"/>
                        <a14:foregroundMark x1="36375" y1="50000" x2="39750" y2="52646"/>
                        <a14:foregroundMark x1="48500" y1="41402" x2="45250" y2="51455"/>
                        <a14:foregroundMark x1="45250" y1="51455" x2="48750" y2="59259"/>
                        <a14:foregroundMark x1="48750" y1="59259" x2="55875" y2="61905"/>
                        <a14:foregroundMark x1="55875" y1="61905" x2="61250" y2="51455"/>
                        <a14:foregroundMark x1="61250" y1="51455" x2="57875" y2="42989"/>
                        <a14:foregroundMark x1="57875" y1="42989" x2="52000" y2="41270"/>
                        <a14:foregroundMark x1="51125" y1="42328" x2="49125" y2="57540"/>
                        <a14:foregroundMark x1="49125" y1="57540" x2="55500" y2="54101"/>
                        <a14:foregroundMark x1="55500" y1="54101" x2="49500" y2="47487"/>
                        <a14:foregroundMark x1="49500" y1="47487" x2="47875" y2="47619"/>
                        <a14:foregroundMark x1="9211" y1="47550" x2="10125" y2="66402"/>
                        <a14:foregroundMark x1="43582" y1="94252" x2="50125" y2="94577"/>
                        <a14:foregroundMark x1="58932" y1="91799" x2="61291" y2="91055"/>
                        <a14:foregroundMark x1="51395" y1="94177" x2="58932" y2="91799"/>
                        <a14:foregroundMark x1="42971" y1="95170" x2="46375" y2="95899"/>
                        <a14:foregroundMark x1="51241" y1="93919" x2="54500" y2="92593"/>
                        <a14:foregroundMark x1="46375" y1="95899" x2="49935" y2="94450"/>
                        <a14:foregroundMark x1="26625" y1="48148" x2="30875" y2="64021"/>
                        <a14:foregroundMark x1="30875" y1="64021" x2="39125" y2="56746"/>
                        <a14:foregroundMark x1="39125" y1="56746" x2="31000" y2="48810"/>
                        <a14:foregroundMark x1="31000" y1="48810" x2="25875" y2="48545"/>
                        <a14:foregroundMark x1="90000" y1="24868" x2="96590" y2="27513"/>
                        <a14:foregroundMark x1="96110" y1="34329" x2="94625" y2="42857"/>
                        <a14:foregroundMark x1="96951" y1="29497" x2="96645" y2="31256"/>
                        <a14:foregroundMark x1="94625" y1="42857" x2="90125" y2="50397"/>
                        <a14:foregroundMark x1="96000" y1="27249" x2="96750" y2="29762"/>
                        <a14:backgroundMark x1="9000" y1="45370" x2="8500" y2="47354"/>
                        <a14:backgroundMark x1="27000" y1="90873" x2="34500" y2="94180"/>
                        <a14:backgroundMark x1="34500" y1="94180" x2="42750" y2="95503"/>
                        <a14:backgroundMark x1="50750" y1="94974" x2="50250" y2="94974"/>
                        <a14:backgroundMark x1="63125" y1="90873" x2="62125" y2="91270"/>
                        <a14:backgroundMark x1="63625" y1="90608" x2="62625" y2="90873"/>
                        <a14:backgroundMark x1="62375" y1="91799" x2="62375" y2="91799"/>
                        <a14:backgroundMark x1="62125" y1="91402" x2="61500" y2="91402"/>
                        <a14:backgroundMark x1="51875" y1="94974" x2="50500" y2="94974"/>
                        <a14:backgroundMark x1="97500" y1="31217" x2="97625" y2="3425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2529" y="3946358"/>
            <a:ext cx="2580075" cy="2438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62443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F5C07-8DF5-3FDD-B2AD-1D2939FAE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93864"/>
            <a:ext cx="10018713" cy="1752599"/>
          </a:xfrm>
        </p:spPr>
        <p:txBody>
          <a:bodyPr/>
          <a:lstStyle/>
          <a:p>
            <a:r>
              <a:rPr lang="ro-RO" dirty="0">
                <a:solidFill>
                  <a:schemeClr val="bg1"/>
                </a:solidFill>
              </a:rPr>
              <a:t>Algoritmul Havel-Hakimi (pentru grafuri neorientate)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8074B-A50C-ABA3-71C2-F486B8B815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679" y="2320489"/>
            <a:ext cx="10855277" cy="3124201"/>
          </a:xfrm>
        </p:spPr>
        <p:txBody>
          <a:bodyPr>
            <a:noAutofit/>
          </a:bodyPr>
          <a:lstStyle/>
          <a:p>
            <a:r>
              <a:rPr lang="ro-RO" sz="1800" dirty="0">
                <a:solidFill>
                  <a:schemeClr val="bg1"/>
                </a:solidFill>
              </a:rPr>
              <a:t>Dacă </a:t>
            </a:r>
            <a:r>
              <a:rPr lang="ro-RO" sz="1800" dirty="0">
                <a:solidFill>
                  <a:srgbClr val="0070C0"/>
                </a:solidFill>
              </a:rPr>
              <a:t>d1 + d2 + ... + dn</a:t>
            </a:r>
            <a:r>
              <a:rPr lang="ro-RO" sz="1800" dirty="0">
                <a:solidFill>
                  <a:schemeClr val="bg1"/>
                </a:solidFill>
              </a:rPr>
              <a:t> este </a:t>
            </a:r>
            <a:r>
              <a:rPr lang="ro-RO" sz="1800" dirty="0">
                <a:solidFill>
                  <a:srgbClr val="0070C0"/>
                </a:solidFill>
              </a:rPr>
              <a:t>număr impar </a:t>
            </a:r>
            <a:r>
              <a:rPr lang="ro-RO" sz="1800" dirty="0">
                <a:solidFill>
                  <a:schemeClr val="bg1"/>
                </a:solidFill>
              </a:rPr>
              <a:t>sau </a:t>
            </a:r>
            <a:r>
              <a:rPr lang="ro-RO" sz="1800" dirty="0">
                <a:solidFill>
                  <a:srgbClr val="0070C0"/>
                </a:solidFill>
              </a:rPr>
              <a:t>există în secvența</a:t>
            </a:r>
            <a:r>
              <a:rPr lang="ro-RO" sz="1800" dirty="0">
                <a:solidFill>
                  <a:schemeClr val="bg1"/>
                </a:solidFill>
              </a:rPr>
              <a:t> </a:t>
            </a:r>
            <a:r>
              <a:rPr lang="ro-RO" sz="1800" dirty="0">
                <a:solidFill>
                  <a:schemeClr val="accent2">
                    <a:lumMod val="75000"/>
                  </a:schemeClr>
                </a:solidFill>
              </a:rPr>
              <a:t>a</a:t>
            </a:r>
            <a:r>
              <a:rPr lang="ro-RO" sz="1800" dirty="0">
                <a:solidFill>
                  <a:schemeClr val="bg1"/>
                </a:solidFill>
              </a:rPr>
              <a:t> </a:t>
            </a:r>
            <a:r>
              <a:rPr lang="ro-RO" sz="1800" dirty="0">
                <a:solidFill>
                  <a:srgbClr val="0070C0"/>
                </a:solidFill>
              </a:rPr>
              <a:t>un</a:t>
            </a:r>
            <a:r>
              <a:rPr lang="ro-RO" sz="1800" dirty="0">
                <a:solidFill>
                  <a:schemeClr val="bg1"/>
                </a:solidFill>
              </a:rPr>
              <a:t> </a:t>
            </a:r>
            <a:r>
              <a:rPr lang="ro-RO" sz="1800" dirty="0">
                <a:solidFill>
                  <a:srgbClr val="0070C0"/>
                </a:solidFill>
              </a:rPr>
              <a:t>di  </a:t>
            </a:r>
            <a:r>
              <a:rPr lang="en-GB" sz="1800" dirty="0">
                <a:solidFill>
                  <a:srgbClr val="0070C0"/>
                </a:solidFill>
              </a:rPr>
              <a:t>&gt; n-1</a:t>
            </a:r>
            <a:r>
              <a:rPr lang="en-GB" sz="1800" dirty="0">
                <a:solidFill>
                  <a:schemeClr val="bg1"/>
                </a:solidFill>
              </a:rPr>
              <a:t>, </a:t>
            </a:r>
            <a:r>
              <a:rPr lang="ro-RO" sz="1800" noProof="0" dirty="0">
                <a:solidFill>
                  <a:schemeClr val="bg1"/>
                </a:solidFill>
              </a:rPr>
              <a:t>atunci</a:t>
            </a:r>
            <a:r>
              <a:rPr lang="en-GB" sz="1800" dirty="0">
                <a:solidFill>
                  <a:schemeClr val="bg1"/>
                </a:solidFill>
              </a:rPr>
              <a:t> </a:t>
            </a:r>
            <a:r>
              <a:rPr lang="en-GB" sz="1800" dirty="0">
                <a:solidFill>
                  <a:srgbClr val="FF0000"/>
                </a:solidFill>
              </a:rPr>
              <a:t>NE OPRIM</a:t>
            </a:r>
            <a:r>
              <a:rPr lang="en-GB" sz="1800" dirty="0">
                <a:solidFill>
                  <a:schemeClr val="bg1"/>
                </a:solidFill>
              </a:rPr>
              <a:t> </a:t>
            </a:r>
            <a:r>
              <a:rPr lang="ro-RO" sz="1800" dirty="0">
                <a:solidFill>
                  <a:schemeClr val="bg1"/>
                </a:solidFill>
              </a:rPr>
              <a:t>=</a:t>
            </a:r>
            <a:r>
              <a:rPr lang="en-GB" sz="1800" dirty="0">
                <a:solidFill>
                  <a:schemeClr val="bg1"/>
                </a:solidFill>
              </a:rPr>
              <a:t>&gt; </a:t>
            </a:r>
            <a:r>
              <a:rPr lang="ro-RO" sz="1800" b="1" u="sng" noProof="0" dirty="0">
                <a:solidFill>
                  <a:srgbClr val="C00000"/>
                </a:solidFill>
              </a:rPr>
              <a:t>secven</a:t>
            </a:r>
            <a:r>
              <a:rPr lang="ro-RO" sz="1800" b="1" u="sng" dirty="0">
                <a:solidFill>
                  <a:srgbClr val="C00000"/>
                </a:solidFill>
              </a:rPr>
              <a:t>ța nu e grafică</a:t>
            </a:r>
            <a:r>
              <a:rPr lang="en-GB" sz="1800" b="1" u="sng" dirty="0">
                <a:solidFill>
                  <a:srgbClr val="C00000"/>
                </a:solidFill>
              </a:rPr>
              <a:t>!!!</a:t>
            </a:r>
            <a:endParaRPr lang="ro-RO" sz="1800" b="1" u="sng" dirty="0">
              <a:solidFill>
                <a:srgbClr val="C00000"/>
              </a:solidFill>
            </a:endParaRPr>
          </a:p>
          <a:p>
            <a:r>
              <a:rPr lang="ro-RO" sz="1800" dirty="0">
                <a:solidFill>
                  <a:schemeClr val="bg1"/>
                </a:solidFill>
              </a:rPr>
              <a:t>Apoi, cât timp </a:t>
            </a:r>
            <a:r>
              <a:rPr lang="ro-RO" sz="1800" dirty="0">
                <a:solidFill>
                  <a:schemeClr val="accent2">
                    <a:lumMod val="75000"/>
                  </a:schemeClr>
                </a:solidFill>
              </a:rPr>
              <a:t>a</a:t>
            </a:r>
            <a:r>
              <a:rPr lang="ro-RO" sz="1800" dirty="0">
                <a:solidFill>
                  <a:schemeClr val="bg1"/>
                </a:solidFill>
              </a:rPr>
              <a:t> conține valori nenule executăm: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ro-RO" sz="1800" noProof="0" dirty="0">
                <a:solidFill>
                  <a:schemeClr val="bg1"/>
                </a:solidFill>
                <a:latin typeface="Arial" panose="020B0604020202020204" pitchFamily="34" charset="0"/>
              </a:rPr>
              <a:t>alege</a:t>
            </a: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 d</a:t>
            </a:r>
            <a:r>
              <a:rPr lang="en-US" alt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k</a:t>
            </a: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, cel </a:t>
            </a:r>
            <a:r>
              <a:rPr lang="ro-RO" sz="1800" noProof="0" dirty="0">
                <a:solidFill>
                  <a:schemeClr val="bg1"/>
                </a:solidFill>
                <a:latin typeface="Arial" panose="020B0604020202020204" pitchFamily="34" charset="0"/>
              </a:rPr>
              <a:t>mai</a:t>
            </a: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 mare </a:t>
            </a:r>
            <a:r>
              <a:rPr lang="ro-RO" sz="1800" noProof="0" dirty="0">
                <a:solidFill>
                  <a:schemeClr val="bg1"/>
                </a:solidFill>
                <a:latin typeface="Arial" panose="020B0604020202020204" pitchFamily="34" charset="0"/>
              </a:rPr>
              <a:t>numă</a:t>
            </a: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r din </a:t>
            </a:r>
            <a:r>
              <a:rPr lang="ro-RO" sz="1800" noProof="0" dirty="0">
                <a:solidFill>
                  <a:schemeClr val="bg1"/>
                </a:solidFill>
                <a:latin typeface="Arial" panose="020B0604020202020204" pitchFamily="34" charset="0"/>
              </a:rPr>
              <a:t>secvența</a:t>
            </a: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ro-RO" sz="1800" dirty="0">
                <a:solidFill>
                  <a:schemeClr val="accent2">
                    <a:lumMod val="75000"/>
                  </a:schemeClr>
                </a:solidFill>
              </a:rPr>
              <a:t>a</a:t>
            </a:r>
            <a:endParaRPr lang="en-US" alt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ro-RO" sz="1800" noProof="0" dirty="0">
                <a:solidFill>
                  <a:schemeClr val="bg1"/>
                </a:solidFill>
                <a:latin typeface="Arial" panose="020B0604020202020204" pitchFamily="34" charset="0"/>
              </a:rPr>
              <a:t>elimină</a:t>
            </a: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 d</a:t>
            </a:r>
            <a:r>
              <a:rPr lang="en-US" alt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k</a:t>
            </a:r>
            <a:r>
              <a:rPr lang="ro-RO" alt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din </a:t>
            </a:r>
            <a:r>
              <a:rPr lang="ro-RO" sz="1800" dirty="0">
                <a:solidFill>
                  <a:schemeClr val="accent2">
                    <a:lumMod val="75000"/>
                  </a:schemeClr>
                </a:solidFill>
              </a:rPr>
              <a:t>a</a:t>
            </a:r>
            <a:endParaRPr lang="en-US" alt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fie d</a:t>
            </a:r>
            <a:r>
              <a:rPr lang="en-US" alt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i</a:t>
            </a:r>
            <a:r>
              <a:rPr lang="en-US" alt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1</a:t>
            </a: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,…, </a:t>
            </a:r>
            <a:r>
              <a:rPr lang="ro-RO" alt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d</a:t>
            </a:r>
            <a:r>
              <a:rPr lang="ro-RO" alt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i</a:t>
            </a:r>
            <a:r>
              <a:rPr lang="ro-RO" alt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k</a:t>
            </a:r>
            <a:r>
              <a:rPr lang="ro-RO" alt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ro-RO" sz="1800" noProof="0" dirty="0">
                <a:solidFill>
                  <a:schemeClr val="bg1"/>
                </a:solidFill>
                <a:latin typeface="Arial" panose="020B0604020202020204" pitchFamily="34" charset="0"/>
              </a:rPr>
              <a:t>cele</a:t>
            </a: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ro-RO" sz="1800" noProof="0" dirty="0">
                <a:solidFill>
                  <a:schemeClr val="bg1"/>
                </a:solidFill>
                <a:latin typeface="Arial" panose="020B0604020202020204" pitchFamily="34" charset="0"/>
              </a:rPr>
              <a:t>mai mari </a:t>
            </a: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d</a:t>
            </a:r>
            <a:r>
              <a:rPr lang="en-US" alt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k</a:t>
            </a:r>
            <a:r>
              <a:rPr lang="ro-RO" alt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ro-RO" sz="1800" noProof="0" dirty="0">
                <a:solidFill>
                  <a:schemeClr val="bg1"/>
                </a:solidFill>
                <a:latin typeface="Arial" panose="020B0604020202020204" pitchFamily="34" charset="0"/>
              </a:rPr>
              <a:t>numere</a:t>
            </a: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 din </a:t>
            </a:r>
            <a:r>
              <a:rPr lang="ro-RO" sz="1800" dirty="0">
                <a:solidFill>
                  <a:schemeClr val="accent2">
                    <a:lumMod val="75000"/>
                  </a:schemeClr>
                </a:solidFill>
              </a:rPr>
              <a:t>a</a:t>
            </a:r>
            <a:r>
              <a:rPr lang="en-GB" sz="18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GB" sz="1800" dirty="0">
                <a:solidFill>
                  <a:schemeClr val="bg1"/>
                </a:solidFill>
              </a:rPr>
              <a:t>(r</a:t>
            </a:r>
            <a:r>
              <a:rPr lang="ro-RO" sz="1800" dirty="0">
                <a:solidFill>
                  <a:schemeClr val="bg1"/>
                </a:solidFill>
              </a:rPr>
              <a:t>ămase după eliminarea anterioară</a:t>
            </a:r>
            <a:r>
              <a:rPr lang="en-GB" sz="1800" dirty="0">
                <a:solidFill>
                  <a:schemeClr val="bg1"/>
                </a:solidFill>
              </a:rPr>
              <a:t>)</a:t>
            </a:r>
            <a:endParaRPr lang="en-US" alt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ro-RO" sz="1800" noProof="0" dirty="0">
                <a:solidFill>
                  <a:schemeClr val="bg1"/>
                </a:solidFill>
                <a:latin typeface="Arial" panose="020B0604020202020204" pitchFamily="34" charset="0"/>
              </a:rPr>
              <a:t>pentru</a:t>
            </a: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 j∈{i</a:t>
            </a:r>
            <a:r>
              <a:rPr lang="en-US" alt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1</a:t>
            </a: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,…</a:t>
            </a:r>
            <a:r>
              <a:rPr lang="ro-RO" sz="1800" noProof="0" dirty="0">
                <a:solidFill>
                  <a:schemeClr val="bg1"/>
                </a:solidFill>
                <a:latin typeface="Arial" panose="020B0604020202020204" pitchFamily="34" charset="0"/>
              </a:rPr>
              <a:t>,i</a:t>
            </a:r>
            <a:r>
              <a:rPr lang="ro-RO" alt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d</a:t>
            </a:r>
            <a:r>
              <a:rPr lang="en-US" alt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k</a:t>
            </a: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}</a:t>
            </a:r>
            <a:r>
              <a:rPr lang="ro-RO" alt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ro-RO" sz="1800" noProof="0" dirty="0">
                <a:solidFill>
                  <a:schemeClr val="bg1"/>
                </a:solidFill>
                <a:latin typeface="Arial" panose="020B0604020202020204" pitchFamily="34" charset="0"/>
              </a:rPr>
              <a:t>execută</a:t>
            </a: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: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GB" sz="1800" noProof="0" dirty="0">
                <a:solidFill>
                  <a:schemeClr val="bg1"/>
                </a:solidFill>
                <a:latin typeface="Arial" panose="020B0604020202020204" pitchFamily="34" charset="0"/>
              </a:rPr>
              <a:t>	- </a:t>
            </a:r>
            <a:r>
              <a:rPr lang="ro-RO" sz="1800" noProof="0" dirty="0">
                <a:solidFill>
                  <a:schemeClr val="bg1"/>
                </a:solidFill>
                <a:latin typeface="Arial" panose="020B0604020202020204" pitchFamily="34" charset="0"/>
              </a:rPr>
              <a:t>adaugă muchia x</a:t>
            </a:r>
            <a:r>
              <a:rPr lang="ro-RO" sz="1400" noProof="0" dirty="0">
                <a:solidFill>
                  <a:schemeClr val="bg1"/>
                </a:solidFill>
                <a:latin typeface="Arial" panose="020B0604020202020204" pitchFamily="34" charset="0"/>
              </a:rPr>
              <a:t>k</a:t>
            </a:r>
            <a:r>
              <a:rPr lang="ro-RO" sz="1800" noProof="0" dirty="0">
                <a:solidFill>
                  <a:schemeClr val="bg1"/>
                </a:solidFill>
                <a:latin typeface="Arial" panose="020B0604020202020204" pitchFamily="34" charset="0"/>
              </a:rPr>
              <a:t>x</a:t>
            </a:r>
            <a:r>
              <a:rPr lang="en-US" alt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j</a:t>
            </a: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 la G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o-RO" sz="1800" noProof="0" dirty="0">
                <a:solidFill>
                  <a:schemeClr val="bg1"/>
                </a:solidFill>
                <a:latin typeface="Arial" panose="020B0604020202020204" pitchFamily="34" charset="0"/>
              </a:rPr>
              <a:t>	- înlocuiește d</a:t>
            </a:r>
            <a:r>
              <a:rPr lang="ro-RO" sz="1600" noProof="0" dirty="0">
                <a:solidFill>
                  <a:schemeClr val="bg1"/>
                </a:solidFill>
                <a:latin typeface="Arial" panose="020B0604020202020204" pitchFamily="34" charset="0"/>
              </a:rPr>
              <a:t>j</a:t>
            </a:r>
            <a:r>
              <a:rPr lang="ro-RO" sz="1800" noProof="0" dirty="0">
                <a:solidFill>
                  <a:schemeClr val="bg1"/>
                </a:solidFill>
                <a:latin typeface="Arial" panose="020B0604020202020204" pitchFamily="34" charset="0"/>
              </a:rPr>
              <a:t> în secvența </a:t>
            </a:r>
            <a:r>
              <a:rPr lang="ro-RO" sz="1800" dirty="0">
                <a:solidFill>
                  <a:schemeClr val="accent2">
                    <a:lumMod val="75000"/>
                  </a:schemeClr>
                </a:solidFill>
              </a:rPr>
              <a:t>a</a:t>
            </a: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 cu d</a:t>
            </a:r>
            <a:r>
              <a:rPr lang="en-US" alt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j</a:t>
            </a: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−1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o-RO" sz="1800" noProof="0" dirty="0">
                <a:solidFill>
                  <a:schemeClr val="bg1"/>
                </a:solidFill>
                <a:latin typeface="Arial" panose="020B0604020202020204" pitchFamily="34" charset="0"/>
              </a:rPr>
              <a:t>	- dacă</a:t>
            </a: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 d</a:t>
            </a:r>
            <a:r>
              <a:rPr lang="en-US" alt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j</a:t>
            </a: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−1&lt;</a:t>
            </a:r>
            <a:r>
              <a:rPr lang="ro-RO" alt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0</a:t>
            </a: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ro-RO" sz="1800" noProof="0" dirty="0">
                <a:solidFill>
                  <a:schemeClr val="bg1"/>
                </a:solidFill>
                <a:latin typeface="Arial" panose="020B0604020202020204" pitchFamily="34" charset="0"/>
              </a:rPr>
              <a:t>atunci </a:t>
            </a:r>
            <a:r>
              <a:rPr lang="en-GB" sz="1800" dirty="0">
                <a:solidFill>
                  <a:srgbClr val="FF0000"/>
                </a:solidFill>
              </a:rPr>
              <a:t>NE OPRIM</a:t>
            </a:r>
            <a:r>
              <a:rPr lang="en-GB" sz="1800" dirty="0">
                <a:solidFill>
                  <a:schemeClr val="bg1"/>
                </a:solidFill>
              </a:rPr>
              <a:t> </a:t>
            </a:r>
            <a:r>
              <a:rPr lang="ro-RO" sz="1800" dirty="0">
                <a:solidFill>
                  <a:schemeClr val="bg1"/>
                </a:solidFill>
              </a:rPr>
              <a:t>=</a:t>
            </a:r>
            <a:r>
              <a:rPr lang="en-GB" sz="1800" dirty="0">
                <a:solidFill>
                  <a:schemeClr val="bg1"/>
                </a:solidFill>
              </a:rPr>
              <a:t>&gt; </a:t>
            </a:r>
            <a:r>
              <a:rPr lang="en-GB" sz="1800" b="1" u="sng" dirty="0" err="1">
                <a:solidFill>
                  <a:srgbClr val="C00000"/>
                </a:solidFill>
              </a:rPr>
              <a:t>secven</a:t>
            </a:r>
            <a:r>
              <a:rPr lang="ro-RO" sz="1800" b="1" u="sng" dirty="0">
                <a:solidFill>
                  <a:srgbClr val="C00000"/>
                </a:solidFill>
              </a:rPr>
              <a:t>ța nu e grafică</a:t>
            </a:r>
            <a:r>
              <a:rPr lang="en-GB" sz="1800" b="1" u="sng" dirty="0">
                <a:solidFill>
                  <a:srgbClr val="C00000"/>
                </a:solidFill>
              </a:rPr>
              <a:t>!!</a:t>
            </a:r>
            <a:endParaRPr lang="ro-RO" alt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ro-RO" alt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o-RO" altLang="en-US" sz="1800" dirty="0">
                <a:solidFill>
                  <a:srgbClr val="92D050"/>
                </a:solidFill>
                <a:latin typeface="Arial" panose="020B0604020202020204" pitchFamily="34" charset="0"/>
              </a:rPr>
              <a:t>OBSERVAȚIE: </a:t>
            </a:r>
            <a:endParaRPr lang="en-GB" altLang="en-US" sz="1800" dirty="0">
              <a:solidFill>
                <a:srgbClr val="92D050"/>
              </a:solidFill>
              <a:latin typeface="Arial" panose="020B0604020202020204" pitchFamily="34" charset="0"/>
            </a:endParaRP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GB" altLang="en-US" sz="1800" dirty="0">
                <a:solidFill>
                  <a:srgbClr val="92D050"/>
                </a:solidFill>
                <a:latin typeface="Arial" panose="020B0604020202020204" pitchFamily="34" charset="0"/>
              </a:rPr>
              <a:t>	</a:t>
            </a:r>
            <a:r>
              <a:rPr lang="en-GB" alt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E</a:t>
            </a:r>
            <a:r>
              <a:rPr lang="ro-RO" alt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ste util ca pe parcursul algoritmului </a:t>
            </a:r>
            <a:r>
              <a:rPr lang="ro-RO" sz="1800" noProof="0" dirty="0">
                <a:solidFill>
                  <a:schemeClr val="bg1"/>
                </a:solidFill>
                <a:latin typeface="Arial" panose="020B0604020202020204" pitchFamily="34" charset="0"/>
              </a:rPr>
              <a:t>secven</a:t>
            </a:r>
            <a:r>
              <a:rPr lang="ro-RO" alt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ța să fie ordonată descrescător!</a:t>
            </a:r>
            <a:endParaRPr lang="en-US" alt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endParaRPr lang="en-GB" sz="1800" dirty="0">
              <a:solidFill>
                <a:schemeClr val="bg1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0381E38-554E-FF70-977C-E5DDF4ABC6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5170629"/>
            <a:ext cx="6190488" cy="103412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o-RO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ro-RO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o-RO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ro-RO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o-RO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ro-RO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o-RO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ro-RO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o-RO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ro-RO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o-RO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ro-RO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o-RO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ro-RO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o-RO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ro-RO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o-RO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ro-RO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o-RO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ro-RO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o-RO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ro-RO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o-RO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ro-RO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o-RO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ro-RO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o-RO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ro-RO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o-RO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ro-RO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o-RO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ro-RO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o-RO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ro-RO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o-RO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ro-RO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2" descr="Like Emoji png images | PNGWing">
            <a:extLst>
              <a:ext uri="{FF2B5EF4-FFF2-40B4-BE49-F238E27FC236}">
                <a16:creationId xmlns:a16="http://schemas.microsoft.com/office/drawing/2014/main" id="{14D4D627-751A-4AD9-E144-A2ACDBC428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711" b="94727" l="10000" r="90000">
                        <a14:foregroundMark x1="40870" y1="9766" x2="44348" y2="977"/>
                        <a14:foregroundMark x1="44348" y1="977" x2="50543" y2="3906"/>
                        <a14:foregroundMark x1="50543" y1="3906" x2="52174" y2="9375"/>
                        <a14:foregroundMark x1="46630" y1="89844" x2="49716" y2="94678"/>
                        <a14:foregroundMark x1="56378" y1="99289" x2="57391" y2="99805"/>
                        <a14:foregroundMark x1="53572" y1="97860" x2="56102" y2="99148"/>
                        <a14:foregroundMark x1="62939" y1="97336" x2="68804" y2="94727"/>
                        <a14:foregroundMark x1="57391" y1="99805" x2="62295" y2="97623"/>
                        <a14:foregroundMark x1="69984" y1="92842" x2="71739" y2="90039"/>
                        <a14:foregroundMark x1="68804" y1="94727" x2="69601" y2="93453"/>
                        <a14:backgroundMark x1="50000" y1="96094" x2="51957" y2="97852"/>
                        <a14:backgroundMark x1="49783" y1="95898" x2="50109" y2="96680"/>
                        <a14:backgroundMark x1="49457" y1="95117" x2="50652" y2="96680"/>
                        <a14:backgroundMark x1="51848" y1="97852" x2="52609" y2="99219"/>
                        <a14:backgroundMark x1="55870" y1="99805" x2="56196" y2="99805"/>
                        <a14:backgroundMark x1="61522" y1="99805" x2="62065" y2="99805"/>
                        <a14:backgroundMark x1="69022" y1="95703" x2="69348" y2="95313"/>
                        <a14:backgroundMark x1="68913" y1="95117" x2="69565" y2="9511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8167" y="3117391"/>
            <a:ext cx="3689475" cy="2053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610784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C3D32-04AD-FEDB-B5C3-948B8327F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solidFill>
                  <a:schemeClr val="bg1"/>
                </a:solidFill>
              </a:rPr>
              <a:t>Adaptare pentru grafuri orientate</a:t>
            </a:r>
            <a:endParaRPr lang="en-GB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DD373F-F0C4-ED3A-AE28-9F665CD9CE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88720" y="2666999"/>
                <a:ext cx="10785108" cy="3124201"/>
              </a:xfrm>
            </p:spPr>
            <p:txBody>
              <a:bodyPr>
                <a:normAutofit fontScale="92500"/>
              </a:bodyPr>
              <a:lstStyle/>
              <a:p>
                <a:r>
                  <a:rPr lang="ro-RO" noProof="0" dirty="0">
                    <a:solidFill>
                      <a:schemeClr val="bg1"/>
                    </a:solidFill>
                  </a:rPr>
                  <a:t>Avem</a:t>
                </a:r>
                <a:r>
                  <a:rPr lang="en-GB" dirty="0">
                    <a:solidFill>
                      <a:schemeClr val="bg1"/>
                    </a:solidFill>
                  </a:rPr>
                  <a:t> 2 </a:t>
                </a:r>
                <a:r>
                  <a:rPr lang="ro-RO" noProof="0" dirty="0">
                    <a:solidFill>
                      <a:schemeClr val="bg1"/>
                    </a:solidFill>
                  </a:rPr>
                  <a:t>secven</a:t>
                </a:r>
                <a:r>
                  <a:rPr lang="ro-RO" dirty="0">
                    <a:solidFill>
                      <a:schemeClr val="bg1"/>
                    </a:solidFill>
                  </a:rPr>
                  <a:t>țe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o-RO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ar-AE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  <m:e>
                        <m:sSup>
                          <m:sSupPr>
                            <m:ctrlPr>
                              <a:rPr lang="ar-AE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o-RO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ro-RO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e>
                    </m:d>
                  </m:oMath>
                </a14:m>
                <a:r>
                  <a:rPr lang="ro-RO" dirty="0">
                    <a:solidFill>
                      <a:srgbClr val="002060"/>
                    </a:solidFill>
                  </a:rPr>
                  <a:t> </a:t>
                </a:r>
                <a:r>
                  <a:rPr lang="ro-RO" dirty="0">
                    <a:solidFill>
                      <a:schemeClr val="bg1"/>
                    </a:solidFill>
                  </a:rPr>
                  <a:t>care descriu pentru fiecare nod:</a:t>
                </a:r>
              </a:p>
              <a:p>
                <a:pPr marL="457200" lvl="1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ar-AE" sz="24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o-RO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ar-AE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ar-AE" sz="240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  <m:r>
                      <a:rPr lang="ar-AE" sz="2400" i="1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2400" dirty="0">
                    <a:solidFill>
                      <a:schemeClr val="bg1"/>
                    </a:solidFill>
                    <a:latin typeface="Arial" panose="020B0604020202020204" pitchFamily="34" charset="0"/>
                  </a:rPr>
                  <a:t>= out-degree (</a:t>
                </a:r>
                <a:r>
                  <a:rPr lang="ro-RO" sz="2400" noProof="0" dirty="0">
                    <a:solidFill>
                      <a:schemeClr val="bg1"/>
                    </a:solidFill>
                    <a:latin typeface="Arial" panose="020B0604020202020204" pitchFamily="34" charset="0"/>
                  </a:rPr>
                  <a:t>numărul de muchii care ies din nodul </a:t>
                </a:r>
                <a:r>
                  <a:rPr lang="en-US" altLang="en-US" sz="2400" dirty="0">
                    <a:solidFill>
                      <a:schemeClr val="bg1"/>
                    </a:solidFill>
                    <a:latin typeface="Arial" panose="020B0604020202020204" pitchFamily="34" charset="0"/>
                  </a:rPr>
                  <a:t>v</a:t>
                </a:r>
                <a:r>
                  <a:rPr lang="ro-RO" altLang="en-US" sz="1900" dirty="0">
                    <a:solidFill>
                      <a:schemeClr val="bg1"/>
                    </a:solidFill>
                    <a:latin typeface="Arial" panose="020B0604020202020204" pitchFamily="34" charset="0"/>
                  </a:rPr>
                  <a:t>j</a:t>
                </a:r>
                <a:r>
                  <a:rPr lang="en-US" altLang="en-US" sz="2400" dirty="0">
                    <a:solidFill>
                      <a:schemeClr val="bg1"/>
                    </a:solidFill>
                    <a:latin typeface="Arial" panose="020B0604020202020204" pitchFamily="34" charset="0"/>
                  </a:rPr>
                  <a:t>)</a:t>
                </a:r>
              </a:p>
              <a:p>
                <a:pPr marL="457200" lvl="1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ar-AE" sz="24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o-RO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ar-AE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ro-RO" sz="2400" b="0" i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ro-RO" altLang="en-US" sz="2400" dirty="0">
                    <a:solidFill>
                      <a:schemeClr val="accent6">
                        <a:lumMod val="75000"/>
                      </a:schemeClr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US" altLang="en-US" sz="2400" dirty="0">
                    <a:solidFill>
                      <a:schemeClr val="bg1"/>
                    </a:solidFill>
                    <a:latin typeface="Arial" panose="020B0604020202020204" pitchFamily="34" charset="0"/>
                  </a:rPr>
                  <a:t>= in-degree (</a:t>
                </a:r>
                <a:r>
                  <a:rPr lang="ro-RO" sz="2400" noProof="0" dirty="0">
                    <a:solidFill>
                      <a:schemeClr val="bg1"/>
                    </a:solidFill>
                    <a:latin typeface="Arial" panose="020B0604020202020204" pitchFamily="34" charset="0"/>
                  </a:rPr>
                  <a:t>numărul</a:t>
                </a:r>
                <a:r>
                  <a:rPr lang="en-US" altLang="en-US" sz="2400" dirty="0">
                    <a:solidFill>
                      <a:schemeClr val="bg1"/>
                    </a:solidFill>
                    <a:latin typeface="Arial" panose="020B0604020202020204" pitchFamily="34" charset="0"/>
                  </a:rPr>
                  <a:t> de </a:t>
                </a:r>
                <a:r>
                  <a:rPr lang="ro-RO" sz="2400" noProof="0" dirty="0">
                    <a:solidFill>
                      <a:schemeClr val="bg1"/>
                    </a:solidFill>
                    <a:latin typeface="Arial" panose="020B0604020202020204" pitchFamily="34" charset="0"/>
                  </a:rPr>
                  <a:t>muchii</a:t>
                </a:r>
                <a:r>
                  <a:rPr lang="en-US" altLang="en-US" sz="2400" dirty="0">
                    <a:solidFill>
                      <a:schemeClr val="bg1"/>
                    </a:solidFill>
                    <a:latin typeface="Arial" panose="020B0604020202020204" pitchFamily="34" charset="0"/>
                  </a:rPr>
                  <a:t> care </a:t>
                </a:r>
                <a:r>
                  <a:rPr lang="ro-RO" sz="2400" noProof="0" dirty="0">
                    <a:solidFill>
                      <a:schemeClr val="bg1"/>
                    </a:solidFill>
                    <a:latin typeface="Arial" panose="020B0604020202020204" pitchFamily="34" charset="0"/>
                  </a:rPr>
                  <a:t>intră în nodul </a:t>
                </a:r>
                <a:r>
                  <a:rPr lang="en-US" altLang="en-US" sz="2400" dirty="0">
                    <a:solidFill>
                      <a:schemeClr val="bg1"/>
                    </a:solidFill>
                    <a:latin typeface="Arial" panose="020B0604020202020204" pitchFamily="34" charset="0"/>
                  </a:rPr>
                  <a:t>v</a:t>
                </a:r>
                <a:r>
                  <a:rPr lang="ro-RO" altLang="en-US" sz="1900" dirty="0">
                    <a:solidFill>
                      <a:schemeClr val="bg1"/>
                    </a:solidFill>
                    <a:latin typeface="Arial" panose="020B0604020202020204" pitchFamily="34" charset="0"/>
                  </a:rPr>
                  <a:t>j</a:t>
                </a:r>
                <a:r>
                  <a:rPr lang="en-US" altLang="en-US" sz="2400" dirty="0">
                    <a:solidFill>
                      <a:schemeClr val="bg1"/>
                    </a:solidFill>
                    <a:latin typeface="Arial" panose="020B0604020202020204" pitchFamily="34" charset="0"/>
                  </a:rPr>
                  <a:t>)</a:t>
                </a:r>
              </a:p>
              <a:p>
                <a:pPr marL="457200" lvl="1" indent="0">
                  <a:buNone/>
                </a:pPr>
                <a:endParaRPr lang="ro-RO" sz="2400" dirty="0"/>
              </a:p>
              <a:p>
                <a:pPr marL="0" indent="0">
                  <a:buNone/>
                </a:pPr>
                <a:r>
                  <a:rPr lang="en-GB" dirty="0">
                    <a:solidFill>
                      <a:srgbClr val="7030A0"/>
                    </a:solidFill>
                  </a:rPr>
                  <a:t>O </a:t>
                </a:r>
                <a:r>
                  <a:rPr lang="ro-RO" noProof="0" dirty="0">
                    <a:solidFill>
                      <a:srgbClr val="7030A0"/>
                    </a:solidFill>
                  </a:rPr>
                  <a:t>secvență</a:t>
                </a:r>
                <a:r>
                  <a:rPr lang="en-GB" dirty="0">
                    <a:solidFill>
                      <a:srgbClr val="7030A0"/>
                    </a:solidFill>
                  </a:rPr>
                  <a:t> </a:t>
                </a:r>
                <a:r>
                  <a:rPr lang="ro-RO" noProof="0" dirty="0">
                    <a:solidFill>
                      <a:srgbClr val="7030A0"/>
                    </a:solidFill>
                  </a:rPr>
                  <a:t>este</a:t>
                </a:r>
                <a:r>
                  <a:rPr lang="en-GB" dirty="0">
                    <a:solidFill>
                      <a:srgbClr val="7030A0"/>
                    </a:solidFill>
                  </a:rPr>
                  <a:t> </a:t>
                </a:r>
                <a:r>
                  <a:rPr lang="ro-RO" b="1" i="1" u="sng" noProof="0" dirty="0">
                    <a:solidFill>
                      <a:srgbClr val="7030A0"/>
                    </a:solidFill>
                  </a:rPr>
                  <a:t>bi-grafică</a:t>
                </a:r>
                <a:r>
                  <a:rPr lang="ro-RO" i="1" u="sng" noProof="0" dirty="0">
                    <a:solidFill>
                      <a:srgbClr val="7030A0"/>
                    </a:solidFill>
                  </a:rPr>
                  <a:t> </a:t>
                </a:r>
                <a:r>
                  <a:rPr lang="ro-RO" noProof="0" dirty="0">
                    <a:solidFill>
                      <a:srgbClr val="7030A0"/>
                    </a:solidFill>
                  </a:rPr>
                  <a:t>dacă există un graf orientat </a:t>
                </a:r>
                <a:r>
                  <a:rPr lang="ro-RO" dirty="0">
                    <a:solidFill>
                      <a:srgbClr val="7030A0"/>
                    </a:solidFill>
                  </a:rPr>
                  <a:t>ale cărui noduri au exact aceste grade </a:t>
                </a:r>
              </a:p>
              <a:p>
                <a:pPr marL="0" indent="0">
                  <a:buNone/>
                </a:pPr>
                <a:r>
                  <a:rPr lang="ro-RO" dirty="0">
                    <a:solidFill>
                      <a:srgbClr val="C00000"/>
                    </a:solidFill>
                  </a:rPr>
                  <a:t>Atenție!!!</a:t>
                </a:r>
              </a:p>
              <a:p>
                <a:pPr marL="0" indent="0">
                  <a:buNone/>
                </a:pPr>
                <a:r>
                  <a:rPr lang="ro-RO" dirty="0">
                    <a:solidFill>
                      <a:srgbClr val="C00000"/>
                    </a:solidFill>
                  </a:rPr>
                  <a:t>	suma out-degrees = suma in-degrees</a:t>
                </a:r>
                <a:endParaRPr lang="en-GB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DD373F-F0C4-ED3A-AE28-9F665CD9CE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8720" y="2666999"/>
                <a:ext cx="10785108" cy="3124201"/>
              </a:xfrm>
              <a:blipFill>
                <a:blip r:embed="rId2"/>
                <a:stretch>
                  <a:fillRect l="-1244" t="-5068" r="-961" b="-350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Ilustrații Stock Emoticon De Gândire, Vectori și Clipart ...">
            <a:extLst>
              <a:ext uri="{FF2B5EF4-FFF2-40B4-BE49-F238E27FC236}">
                <a16:creationId xmlns:a16="http://schemas.microsoft.com/office/drawing/2014/main" id="{15836072-56AF-CC7B-93D8-A34FD91008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21" b="95635" l="9125" r="96750">
                        <a14:foregroundMark x1="28375" y1="36772" x2="17750" y2="44444"/>
                        <a14:foregroundMark x1="17750" y1="44444" x2="21125" y2="65079"/>
                        <a14:foregroundMark x1="21125" y1="65079" x2="57000" y2="74603"/>
                        <a14:foregroundMark x1="57000" y1="74603" x2="73625" y2="58862"/>
                        <a14:foregroundMark x1="73625" y1="58862" x2="65375" y2="43651"/>
                        <a14:foregroundMark x1="65375" y1="43651" x2="51750" y2="36243"/>
                        <a14:foregroundMark x1="51750" y1="36243" x2="32625" y2="34392"/>
                        <a14:foregroundMark x1="32625" y1="34392" x2="24000" y2="36508"/>
                        <a14:foregroundMark x1="24000" y1="36508" x2="23500" y2="38228"/>
                        <a14:foregroundMark x1="30625" y1="39683" x2="20750" y2="54233"/>
                        <a14:foregroundMark x1="20750" y1="54233" x2="30250" y2="66005"/>
                        <a14:foregroundMark x1="30250" y1="66005" x2="42250" y2="59524"/>
                        <a14:foregroundMark x1="42250" y1="59524" x2="43250" y2="45767"/>
                        <a14:foregroundMark x1="43250" y1="45767" x2="32375" y2="39418"/>
                        <a14:foregroundMark x1="32375" y1="39418" x2="26250" y2="40873"/>
                        <a14:foregroundMark x1="40000" y1="46958" x2="40875" y2="54497"/>
                        <a14:foregroundMark x1="40875" y1="54497" x2="38875" y2="47751"/>
                        <a14:foregroundMark x1="38875" y1="47751" x2="37875" y2="47751"/>
                        <a14:foregroundMark x1="35750" y1="45503" x2="31875" y2="58598"/>
                        <a14:foregroundMark x1="31875" y1="58598" x2="44125" y2="58466"/>
                        <a14:foregroundMark x1="44125" y1="58466" x2="43500" y2="47751"/>
                        <a14:foregroundMark x1="43500" y1="47751" x2="32875" y2="45106"/>
                        <a14:foregroundMark x1="32875" y1="45106" x2="30750" y2="46693"/>
                        <a14:foregroundMark x1="35125" y1="46958" x2="29875" y2="48545"/>
                        <a14:foregroundMark x1="36250" y1="49868" x2="34500" y2="51190"/>
                        <a14:foregroundMark x1="35375" y1="48942" x2="36375" y2="51852"/>
                        <a14:foregroundMark x1="36375" y1="50000" x2="39750" y2="52646"/>
                        <a14:foregroundMark x1="48500" y1="41402" x2="45250" y2="51455"/>
                        <a14:foregroundMark x1="45250" y1="51455" x2="48750" y2="59259"/>
                        <a14:foregroundMark x1="48750" y1="59259" x2="55875" y2="61905"/>
                        <a14:foregroundMark x1="55875" y1="61905" x2="61250" y2="51455"/>
                        <a14:foregroundMark x1="61250" y1="51455" x2="57875" y2="42989"/>
                        <a14:foregroundMark x1="57875" y1="42989" x2="52000" y2="41270"/>
                        <a14:foregroundMark x1="51125" y1="42328" x2="49125" y2="57540"/>
                        <a14:foregroundMark x1="49125" y1="57540" x2="55500" y2="54101"/>
                        <a14:foregroundMark x1="55500" y1="54101" x2="49500" y2="47487"/>
                        <a14:foregroundMark x1="49500" y1="47487" x2="47875" y2="47619"/>
                        <a14:foregroundMark x1="9211" y1="47550" x2="10125" y2="66402"/>
                        <a14:foregroundMark x1="43582" y1="94252" x2="50125" y2="94577"/>
                        <a14:foregroundMark x1="58932" y1="91799" x2="61291" y2="91055"/>
                        <a14:foregroundMark x1="51395" y1="94177" x2="58932" y2="91799"/>
                        <a14:foregroundMark x1="42971" y1="95170" x2="46375" y2="95899"/>
                        <a14:foregroundMark x1="51241" y1="93919" x2="54500" y2="92593"/>
                        <a14:foregroundMark x1="46375" y1="95899" x2="49935" y2="94450"/>
                        <a14:foregroundMark x1="26625" y1="48148" x2="30875" y2="64021"/>
                        <a14:foregroundMark x1="30875" y1="64021" x2="39125" y2="56746"/>
                        <a14:foregroundMark x1="39125" y1="56746" x2="31000" y2="48810"/>
                        <a14:foregroundMark x1="31000" y1="48810" x2="25875" y2="48545"/>
                        <a14:foregroundMark x1="90000" y1="24868" x2="96590" y2="27513"/>
                        <a14:foregroundMark x1="96110" y1="34329" x2="94625" y2="42857"/>
                        <a14:foregroundMark x1="96951" y1="29497" x2="96645" y2="31256"/>
                        <a14:foregroundMark x1="94625" y1="42857" x2="90125" y2="50397"/>
                        <a14:foregroundMark x1="96000" y1="27249" x2="96750" y2="29762"/>
                        <a14:backgroundMark x1="9000" y1="45370" x2="8500" y2="47354"/>
                        <a14:backgroundMark x1="27000" y1="90873" x2="34500" y2="94180"/>
                        <a14:backgroundMark x1="34500" y1="94180" x2="42750" y2="95503"/>
                        <a14:backgroundMark x1="50750" y1="94974" x2="50250" y2="94974"/>
                        <a14:backgroundMark x1="63125" y1="90873" x2="62125" y2="91270"/>
                        <a14:backgroundMark x1="63625" y1="90608" x2="62625" y2="90873"/>
                        <a14:backgroundMark x1="62375" y1="91799" x2="62375" y2="91799"/>
                        <a14:backgroundMark x1="62125" y1="91402" x2="61500" y2="91402"/>
                        <a14:backgroundMark x1="51875" y1="94974" x2="50500" y2="94974"/>
                        <a14:backgroundMark x1="97500" y1="31217" x2="97625" y2="3425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256" y="2174587"/>
            <a:ext cx="1854768" cy="1752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204626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7DF06-ABA6-D410-1CC8-F1941BD4C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DE6C9-EA3A-A555-D987-BD4226B38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solidFill>
                  <a:schemeClr val="bg1"/>
                </a:solidFill>
              </a:rPr>
              <a:t>Adaptare pentru grafuri orientate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4CC80-FA74-4F5F-3BF4-ECD7270DC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>
                <a:solidFill>
                  <a:schemeClr val="bg1"/>
                </a:solidFill>
              </a:rPr>
              <a:t>O secvență bi-grafică este în </a:t>
            </a:r>
            <a:r>
              <a:rPr lang="ro-RO" b="1" i="1" u="sng" dirty="0">
                <a:solidFill>
                  <a:schemeClr val="bg1"/>
                </a:solidFill>
              </a:rPr>
              <a:t>normal order </a:t>
            </a:r>
            <a:r>
              <a:rPr lang="ro-RO" dirty="0">
                <a:solidFill>
                  <a:schemeClr val="bg1"/>
                </a:solidFill>
              </a:rPr>
              <a:t>dacă: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ro-RO" dirty="0">
                <a:solidFill>
                  <a:schemeClr val="bg1"/>
                </a:solidFill>
              </a:rPr>
              <a:t>Secvența de in-degrees este ordonată descrescător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ro-RO" dirty="0">
                <a:solidFill>
                  <a:schemeClr val="bg1"/>
                </a:solidFill>
              </a:rPr>
              <a:t>Dacă două noduri au același in-degree, le ordonăm după out-degree descrescător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ro-RO" dirty="0">
                <a:solidFill>
                  <a:schemeClr val="bg1"/>
                </a:solidFill>
              </a:rPr>
              <a:t>Ultimul nod </a:t>
            </a:r>
            <a:r>
              <a:rPr lang="ro-RO" dirty="0">
                <a:solidFill>
                  <a:schemeClr val="accent1"/>
                </a:solidFill>
              </a:rPr>
              <a:t>v</a:t>
            </a:r>
            <a:r>
              <a:rPr lang="ro-RO" sz="1800" dirty="0">
                <a:solidFill>
                  <a:schemeClr val="accent1"/>
                </a:solidFill>
              </a:rPr>
              <a:t>n</a:t>
            </a:r>
            <a:r>
              <a:rPr lang="ro-RO" dirty="0">
                <a:solidFill>
                  <a:schemeClr val="bg1"/>
                </a:solidFill>
              </a:rPr>
              <a:t> nu are restricție de ordonare</a:t>
            </a:r>
          </a:p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endParaRPr lang="ro-RO" dirty="0"/>
          </a:p>
        </p:txBody>
      </p:sp>
      <p:pic>
        <p:nvPicPr>
          <p:cNvPr id="5" name="Picture 4" descr="Ilustrații Stock Emoticon De Gândire, Vectori și Clipart ...">
            <a:extLst>
              <a:ext uri="{FF2B5EF4-FFF2-40B4-BE49-F238E27FC236}">
                <a16:creationId xmlns:a16="http://schemas.microsoft.com/office/drawing/2014/main" id="{DF7FA750-C87E-4810-2940-51F2E0CCF5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21" b="95635" l="9125" r="96750">
                        <a14:foregroundMark x1="28375" y1="36772" x2="17750" y2="44444"/>
                        <a14:foregroundMark x1="17750" y1="44444" x2="21125" y2="65079"/>
                        <a14:foregroundMark x1="21125" y1="65079" x2="57000" y2="74603"/>
                        <a14:foregroundMark x1="57000" y1="74603" x2="73625" y2="58862"/>
                        <a14:foregroundMark x1="73625" y1="58862" x2="65375" y2="43651"/>
                        <a14:foregroundMark x1="65375" y1="43651" x2="51750" y2="36243"/>
                        <a14:foregroundMark x1="51750" y1="36243" x2="32625" y2="34392"/>
                        <a14:foregroundMark x1="32625" y1="34392" x2="24000" y2="36508"/>
                        <a14:foregroundMark x1="24000" y1="36508" x2="23500" y2="38228"/>
                        <a14:foregroundMark x1="30625" y1="39683" x2="20750" y2="54233"/>
                        <a14:foregroundMark x1="20750" y1="54233" x2="30250" y2="66005"/>
                        <a14:foregroundMark x1="30250" y1="66005" x2="42250" y2="59524"/>
                        <a14:foregroundMark x1="42250" y1="59524" x2="43250" y2="45767"/>
                        <a14:foregroundMark x1="43250" y1="45767" x2="32375" y2="39418"/>
                        <a14:foregroundMark x1="32375" y1="39418" x2="26250" y2="40873"/>
                        <a14:foregroundMark x1="40000" y1="46958" x2="40875" y2="54497"/>
                        <a14:foregroundMark x1="40875" y1="54497" x2="38875" y2="47751"/>
                        <a14:foregroundMark x1="38875" y1="47751" x2="37875" y2="47751"/>
                        <a14:foregroundMark x1="35750" y1="45503" x2="31875" y2="58598"/>
                        <a14:foregroundMark x1="31875" y1="58598" x2="44125" y2="58466"/>
                        <a14:foregroundMark x1="44125" y1="58466" x2="43500" y2="47751"/>
                        <a14:foregroundMark x1="43500" y1="47751" x2="32875" y2="45106"/>
                        <a14:foregroundMark x1="32875" y1="45106" x2="30750" y2="46693"/>
                        <a14:foregroundMark x1="35125" y1="46958" x2="29875" y2="48545"/>
                        <a14:foregroundMark x1="36250" y1="49868" x2="34500" y2="51190"/>
                        <a14:foregroundMark x1="35375" y1="48942" x2="36375" y2="51852"/>
                        <a14:foregroundMark x1="36375" y1="50000" x2="39750" y2="52646"/>
                        <a14:foregroundMark x1="48500" y1="41402" x2="45250" y2="51455"/>
                        <a14:foregroundMark x1="45250" y1="51455" x2="48750" y2="59259"/>
                        <a14:foregroundMark x1="48750" y1="59259" x2="55875" y2="61905"/>
                        <a14:foregroundMark x1="55875" y1="61905" x2="61250" y2="51455"/>
                        <a14:foregroundMark x1="61250" y1="51455" x2="57875" y2="42989"/>
                        <a14:foregroundMark x1="57875" y1="42989" x2="52000" y2="41270"/>
                        <a14:foregroundMark x1="51125" y1="42328" x2="49125" y2="57540"/>
                        <a14:foregroundMark x1="49125" y1="57540" x2="55500" y2="54101"/>
                        <a14:foregroundMark x1="55500" y1="54101" x2="49500" y2="47487"/>
                        <a14:foregroundMark x1="49500" y1="47487" x2="47875" y2="47619"/>
                        <a14:foregroundMark x1="9211" y1="47550" x2="10125" y2="66402"/>
                        <a14:foregroundMark x1="43582" y1="94252" x2="50125" y2="94577"/>
                        <a14:foregroundMark x1="58932" y1="91799" x2="61291" y2="91055"/>
                        <a14:foregroundMark x1="51395" y1="94177" x2="58932" y2="91799"/>
                        <a14:foregroundMark x1="42971" y1="95170" x2="46375" y2="95899"/>
                        <a14:foregroundMark x1="51241" y1="93919" x2="54500" y2="92593"/>
                        <a14:foregroundMark x1="46375" y1="95899" x2="49935" y2="94450"/>
                        <a14:foregroundMark x1="26625" y1="48148" x2="30875" y2="64021"/>
                        <a14:foregroundMark x1="30875" y1="64021" x2="39125" y2="56746"/>
                        <a14:foregroundMark x1="39125" y1="56746" x2="31000" y2="48810"/>
                        <a14:foregroundMark x1="31000" y1="48810" x2="25875" y2="48545"/>
                        <a14:foregroundMark x1="90000" y1="24868" x2="96590" y2="27513"/>
                        <a14:foregroundMark x1="96110" y1="34329" x2="94625" y2="42857"/>
                        <a14:foregroundMark x1="96951" y1="29497" x2="96645" y2="31256"/>
                        <a14:foregroundMark x1="94625" y1="42857" x2="90125" y2="50397"/>
                        <a14:foregroundMark x1="96000" y1="27249" x2="96750" y2="29762"/>
                        <a14:backgroundMark x1="9000" y1="45370" x2="8500" y2="47354"/>
                        <a14:backgroundMark x1="27000" y1="90873" x2="34500" y2="94180"/>
                        <a14:backgroundMark x1="34500" y1="94180" x2="42750" y2="95503"/>
                        <a14:backgroundMark x1="50750" y1="94974" x2="50250" y2="94974"/>
                        <a14:backgroundMark x1="63125" y1="90873" x2="62125" y2="91270"/>
                        <a14:backgroundMark x1="63625" y1="90608" x2="62625" y2="90873"/>
                        <a14:backgroundMark x1="62375" y1="91799" x2="62375" y2="91799"/>
                        <a14:backgroundMark x1="62125" y1="91402" x2="61500" y2="91402"/>
                        <a14:backgroundMark x1="51875" y1="94974" x2="50500" y2="94974"/>
                        <a14:backgroundMark x1="97500" y1="31217" x2="97625" y2="3425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2946" y="4266879"/>
            <a:ext cx="2161942" cy="2043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55106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E8FB6-3F6F-FE35-1146-9B0C3633D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7AEE1-065F-C930-B79A-2D42E773A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5810" y="435544"/>
            <a:ext cx="10018713" cy="1752599"/>
          </a:xfrm>
        </p:spPr>
        <p:txBody>
          <a:bodyPr/>
          <a:lstStyle/>
          <a:p>
            <a:r>
              <a:rPr lang="ro-RO" dirty="0">
                <a:solidFill>
                  <a:schemeClr val="bg1"/>
                </a:solidFill>
              </a:rPr>
              <a:t>Adaptare pentru grafuri orientate</a:t>
            </a:r>
            <a:endParaRPr lang="en-GB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40CAFE-D5FD-78DC-7F33-467063A2EA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80699" y="2188143"/>
                <a:ext cx="11011301" cy="3124201"/>
              </a:xfrm>
            </p:spPr>
            <p:txBody>
              <a:bodyPr>
                <a:noAutofit/>
              </a:bodyPr>
              <a:lstStyle/>
              <a:p>
                <a:r>
                  <a:rPr lang="ro-RO" sz="1800" b="1" dirty="0">
                    <a:solidFill>
                      <a:schemeClr val="bg1"/>
                    </a:solidFill>
                  </a:rPr>
                  <a:t>Idee</a:t>
                </a:r>
                <a:r>
                  <a:rPr lang="ro-RO" sz="1800" dirty="0">
                    <a:solidFill>
                      <a:schemeClr val="bg1"/>
                    </a:solidFill>
                  </a:rPr>
                  <a:t>: </a:t>
                </a:r>
                <a:r>
                  <a:rPr lang="ro-RO" sz="1800" noProof="0" dirty="0">
                    <a:solidFill>
                      <a:srgbClr val="0070C0"/>
                    </a:solidFill>
                  </a:rPr>
                  <a:t>luăm un nod cu out-degree pozitiv și conectăm muchii către noduri cu in-degree mare</a:t>
                </a:r>
                <a:endParaRPr lang="ro-RO" sz="1800" dirty="0">
                  <a:solidFill>
                    <a:srgbClr val="0070C0"/>
                  </a:solidFill>
                </a:endParaRPr>
              </a:p>
              <a:p>
                <a:r>
                  <a:rPr lang="ro-RO" sz="1800" dirty="0">
                    <a:solidFill>
                      <a:schemeClr val="bg1"/>
                    </a:solidFill>
                  </a:rPr>
                  <a:t>Dacă avem o secvență bi-grafică în </a:t>
                </a:r>
                <a:r>
                  <a:rPr lang="ro-RO" sz="1800" b="1" i="1" u="sng" dirty="0">
                    <a:solidFill>
                      <a:schemeClr val="bg1"/>
                    </a:solidFill>
                  </a:rPr>
                  <a:t>normal order </a:t>
                </a:r>
                <a:r>
                  <a:rPr lang="ro-RO" sz="1800" dirty="0">
                    <a:solidFill>
                      <a:schemeClr val="bg1"/>
                    </a:solidFill>
                  </a:rPr>
                  <a:t>și out degree-ul ultimului nod vn este pozitiv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GB" sz="18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  <m:r>
                      <a:rPr lang="en-GB" sz="18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GB" sz="18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ro-RO" sz="1800" b="1" i="1" u="sng" dirty="0">
                    <a:solidFill>
                      <a:schemeClr val="bg1"/>
                    </a:solidFill>
                  </a:rPr>
                  <a:t>) </a:t>
                </a:r>
                <a:r>
                  <a:rPr lang="ro-RO" sz="1800" dirty="0">
                    <a:solidFill>
                      <a:schemeClr val="bg1"/>
                    </a:solidFill>
                  </a:rPr>
                  <a:t>atunci putem testa dacă secvența este bi-grafică astfel:</a:t>
                </a:r>
                <a:endParaRPr lang="en-GB" sz="1800" dirty="0">
                  <a:solidFill>
                    <a:schemeClr val="bg1"/>
                  </a:solidFill>
                </a:endParaRPr>
              </a:p>
              <a:p>
                <a:pPr marL="914400" lvl="1" indent="-457200">
                  <a:buAutoNum type="arabicPeriod"/>
                </a:pPr>
                <a:r>
                  <a:rPr lang="ro-RO" sz="1800" dirty="0">
                    <a:solidFill>
                      <a:srgbClr val="00B0F0"/>
                    </a:solidFill>
                  </a:rPr>
                  <a:t>eliminăm </a:t>
                </a:r>
                <a:r>
                  <a:rPr lang="en-GB" sz="1800" dirty="0">
                    <a:solidFill>
                      <a:srgbClr val="00B0F0"/>
                    </a:solidFill>
                  </a:rPr>
                  <a:t>out-degree-ul </a:t>
                </a:r>
                <a:r>
                  <a:rPr lang="ro-RO" sz="1800" noProof="0" dirty="0">
                    <a:solidFill>
                      <a:srgbClr val="00B0F0"/>
                    </a:solidFill>
                  </a:rPr>
                  <a:t>ultimului</a:t>
                </a:r>
                <a:r>
                  <a:rPr lang="en-GB" sz="1800" dirty="0">
                    <a:solidFill>
                      <a:srgbClr val="00B0F0"/>
                    </a:solidFill>
                  </a:rPr>
                  <a:t> nod (</a:t>
                </a:r>
                <a:r>
                  <a:rPr lang="ro-RO" sz="1800" noProof="0" dirty="0">
                    <a:solidFill>
                      <a:srgbClr val="00B0F0"/>
                    </a:solidFill>
                  </a:rPr>
                  <a:t>considerăm</a:t>
                </a:r>
                <a:r>
                  <a:rPr lang="en-GB" sz="1800" dirty="0">
                    <a:solidFill>
                      <a:srgbClr val="00B0F0"/>
                    </a:solidFill>
                  </a:rPr>
                  <a:t> </a:t>
                </a:r>
                <a:r>
                  <a:rPr lang="ro-RO" sz="1800" noProof="0" dirty="0">
                    <a:solidFill>
                      <a:srgbClr val="00B0F0"/>
                    </a:solidFill>
                  </a:rPr>
                  <a:t>că</a:t>
                </a:r>
                <a:r>
                  <a:rPr lang="en-GB" sz="1800" dirty="0">
                    <a:solidFill>
                      <a:srgbClr val="00B0F0"/>
                    </a:solidFill>
                  </a:rPr>
                  <a:t> am </a:t>
                </a:r>
                <a:r>
                  <a:rPr lang="ro-RO" sz="1800" noProof="0" dirty="0">
                    <a:solidFill>
                      <a:srgbClr val="00B0F0"/>
                    </a:solidFill>
                  </a:rPr>
                  <a:t>folosit toate muchiile lui</a:t>
                </a:r>
                <a:r>
                  <a:rPr lang="en-GB" sz="1800" dirty="0">
                    <a:solidFill>
                      <a:srgbClr val="00B0F0"/>
                    </a:solidFill>
                  </a:rPr>
                  <a:t>)</a:t>
                </a:r>
                <a:endParaRPr lang="ro-RO" sz="1800" dirty="0">
                  <a:solidFill>
                    <a:srgbClr val="00B0F0"/>
                  </a:solidFill>
                </a:endParaRPr>
              </a:p>
              <a:p>
                <a:pPr marL="914400" lvl="1" indent="-457200">
                  <a:buAutoNum type="arabicPeriod"/>
                </a:pPr>
                <a:r>
                  <a:rPr lang="ro-RO" sz="1800" noProof="0" dirty="0">
                    <a:solidFill>
                      <a:srgbClr val="00B050"/>
                    </a:solidFill>
                  </a:rPr>
                  <a:t>scădem 1 din in-degree pentru primele</a:t>
                </a:r>
                <a:r>
                  <a:rPr lang="en-GB" sz="1800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sz="1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sz="1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ar-AE" sz="1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ar-AE" sz="180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ro-RO" sz="1800" noProof="0" dirty="0">
                    <a:solidFill>
                      <a:srgbClr val="00B050"/>
                    </a:solidFill>
                  </a:rPr>
                  <a:t>noduri </a:t>
                </a:r>
                <a:r>
                  <a:rPr lang="en-GB" sz="1800" dirty="0">
                    <a:solidFill>
                      <a:srgbClr val="00B050"/>
                    </a:solidFill>
                  </a:rPr>
                  <a:t>(</a:t>
                </a:r>
                <a:r>
                  <a:rPr lang="ro-RO" sz="1800" noProof="0" dirty="0">
                    <a:solidFill>
                      <a:srgbClr val="00B050"/>
                    </a:solidFill>
                  </a:rPr>
                  <a:t>pentru că au primit muchii </a:t>
                </a:r>
                <a:r>
                  <a:rPr lang="en-GB" sz="1800" dirty="0">
                    <a:solidFill>
                      <a:srgbClr val="00B050"/>
                    </a:solidFill>
                  </a:rPr>
                  <a:t>de 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ar-AE" sz="1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o-RO" sz="1800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o-RO" sz="1800" dirty="0">
                    <a:solidFill>
                      <a:srgbClr val="00B050"/>
                    </a:solidFill>
                  </a:rPr>
                  <a:t> </a:t>
                </a:r>
              </a:p>
              <a:p>
                <a:pPr marL="914400" lvl="1" indent="-457200">
                  <a:buAutoNum type="arabicPeriod"/>
                </a:pPr>
                <a:r>
                  <a:rPr lang="ro-RO" sz="1800" dirty="0">
                    <a:solidFill>
                      <a:srgbClr val="7030A0"/>
                    </a:solidFill>
                  </a:rPr>
                  <a:t>e</a:t>
                </a:r>
                <a:r>
                  <a:rPr lang="ro-RO" sz="1800" noProof="0" dirty="0">
                    <a:solidFill>
                      <a:srgbClr val="7030A0"/>
                    </a:solidFill>
                  </a:rPr>
                  <a:t>liminăm</a:t>
                </a:r>
                <a:r>
                  <a:rPr lang="en-GB" sz="1800" dirty="0">
                    <a:solidFill>
                      <a:srgbClr val="7030A0"/>
                    </a:solidFill>
                  </a:rPr>
                  <a:t> </a:t>
                </a:r>
                <a:r>
                  <a:rPr lang="ro-RO" sz="1800" noProof="0" dirty="0">
                    <a:solidFill>
                      <a:srgbClr val="7030A0"/>
                    </a:solidFill>
                  </a:rPr>
                  <a:t>nodurile</a:t>
                </a:r>
                <a:r>
                  <a:rPr lang="en-GB" sz="1800" dirty="0">
                    <a:solidFill>
                      <a:srgbClr val="7030A0"/>
                    </a:solidFill>
                  </a:rPr>
                  <a:t> care au </a:t>
                </a:r>
                <a:r>
                  <a:rPr lang="ro-RO" sz="1800" noProof="0" dirty="0">
                    <a:solidFill>
                      <a:srgbClr val="7030A0"/>
                    </a:solidFill>
                  </a:rPr>
                  <a:t>ajuns</a:t>
                </a:r>
                <a:r>
                  <a:rPr lang="en-GB" sz="1800" dirty="0">
                    <a:solidFill>
                      <a:srgbClr val="7030A0"/>
                    </a:solidFill>
                  </a:rPr>
                  <a:t> la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sz="1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o-RO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ar-AE" sz="1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ar-AE" sz="180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  <m:r>
                      <a:rPr lang="ar-AE" sz="180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ar-AE" sz="1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ro-RO" sz="1800" b="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ar-AE" sz="1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ar-AE" sz="180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  <m:r>
                      <a:rPr lang="ar-AE" sz="180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80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ro-RO" sz="1800" dirty="0">
                    <a:solidFill>
                      <a:srgbClr val="7030A0"/>
                    </a:solidFill>
                  </a:rPr>
                  <a:t> (</a:t>
                </a:r>
                <a:r>
                  <a:rPr lang="ro-RO" sz="1800" noProof="0" dirty="0">
                    <a:solidFill>
                      <a:srgbClr val="7030A0"/>
                    </a:solidFill>
                  </a:rPr>
                  <a:t>noduri izolate</a:t>
                </a:r>
                <a:r>
                  <a:rPr lang="ro-RO" sz="1800" dirty="0">
                    <a:solidFill>
                      <a:srgbClr val="7030A0"/>
                    </a:solidFill>
                  </a:rPr>
                  <a:t>)</a:t>
                </a:r>
              </a:p>
              <a:p>
                <a:pPr marL="914400" lvl="1" indent="-457200">
                  <a:buAutoNum type="arabicPeriod"/>
                </a:pPr>
                <a:r>
                  <a:rPr lang="ro-RO" sz="1800" dirty="0">
                    <a:solidFill>
                      <a:srgbClr val="002060"/>
                    </a:solidFill>
                  </a:rPr>
                  <a:t>d</a:t>
                </a:r>
                <a:r>
                  <a:rPr lang="ro-RO" sz="1800" noProof="0" dirty="0">
                    <a:solidFill>
                      <a:srgbClr val="002060"/>
                    </a:solidFill>
                  </a:rPr>
                  <a:t>acă noua secvență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sz="1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sz="1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o-RO" sz="1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ar-AE" sz="1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  <m:e>
                        <m:sSup>
                          <m:sSupPr>
                            <m:ctrlPr>
                              <a:rPr lang="ar-AE" sz="1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o-RO" sz="1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ro-RO" sz="1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e>
                    </m:d>
                  </m:oMath>
                </a14:m>
                <a:r>
                  <a:rPr lang="ro-RO" sz="1800" dirty="0">
                    <a:solidFill>
                      <a:srgbClr val="002060"/>
                    </a:solidFill>
                  </a:rPr>
                  <a:t> </a:t>
                </a:r>
                <a:r>
                  <a:rPr lang="ro-RO" sz="1800" noProof="0" dirty="0">
                    <a:solidFill>
                      <a:srgbClr val="002060"/>
                    </a:solidFill>
                  </a:rPr>
                  <a:t>este bi-grafică, atunci și secvența originală este bi-grafică</a:t>
                </a:r>
                <a:endParaRPr lang="ro-RO" sz="1800" dirty="0">
                  <a:solidFill>
                    <a:srgbClr val="002060"/>
                  </a:solidFill>
                </a:endParaRPr>
              </a:p>
              <a:p>
                <a:endParaRPr lang="ro-RO" sz="1800" dirty="0"/>
              </a:p>
              <a:p>
                <a:r>
                  <a:rPr lang="ro-RO" sz="1800" dirty="0">
                    <a:solidFill>
                      <a:schemeClr val="bg1"/>
                    </a:solidFill>
                  </a:rPr>
                  <a:t>La fiecare iterare prin cei 4 pași de mai sus este necesar să reordonăm descrescător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8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18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p>
                        <m:r>
                          <a:rPr lang="ro-RO" sz="1800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endParaRPr lang="en-GB" sz="1800" b="1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40CAFE-D5FD-78DC-7F33-467063A2EA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0699" y="2188143"/>
                <a:ext cx="11011301" cy="3124201"/>
              </a:xfrm>
              <a:blipFill>
                <a:blip r:embed="rId2"/>
                <a:stretch>
                  <a:fillRect l="-886" t="-10742" b="-111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Like Emoji png images | PNGWing">
            <a:extLst>
              <a:ext uri="{FF2B5EF4-FFF2-40B4-BE49-F238E27FC236}">
                <a16:creationId xmlns:a16="http://schemas.microsoft.com/office/drawing/2014/main" id="{AD2842C5-6213-9BA1-F377-1615F13632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711" b="94727" l="10000" r="90000">
                        <a14:foregroundMark x1="40870" y1="9766" x2="44348" y2="977"/>
                        <a14:foregroundMark x1="44348" y1="977" x2="50543" y2="3906"/>
                        <a14:foregroundMark x1="50543" y1="3906" x2="52174" y2="9375"/>
                        <a14:foregroundMark x1="46630" y1="89844" x2="49716" y2="94678"/>
                        <a14:foregroundMark x1="56378" y1="99289" x2="57391" y2="99805"/>
                        <a14:foregroundMark x1="53572" y1="97860" x2="56102" y2="99148"/>
                        <a14:foregroundMark x1="62939" y1="97336" x2="68804" y2="94727"/>
                        <a14:foregroundMark x1="57391" y1="99805" x2="62295" y2="97623"/>
                        <a14:foregroundMark x1="69984" y1="92842" x2="71739" y2="90039"/>
                        <a14:foregroundMark x1="68804" y1="94727" x2="69601" y2="93453"/>
                        <a14:backgroundMark x1="50000" y1="96094" x2="51957" y2="97852"/>
                        <a14:backgroundMark x1="49783" y1="95898" x2="50109" y2="96680"/>
                        <a14:backgroundMark x1="49457" y1="95117" x2="50652" y2="96680"/>
                        <a14:backgroundMark x1="51848" y1="97852" x2="52609" y2="99219"/>
                        <a14:backgroundMark x1="55870" y1="99805" x2="56196" y2="99805"/>
                        <a14:backgroundMark x1="61522" y1="99805" x2="62065" y2="99805"/>
                        <a14:backgroundMark x1="69022" y1="95703" x2="69348" y2="95313"/>
                        <a14:backgroundMark x1="68913" y1="95117" x2="69565" y2="9511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8935" y="435544"/>
            <a:ext cx="2569369" cy="1429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646047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86144-B8DC-4461-F38A-E8E38D5C6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3ACBA-8808-9A27-38BB-7D41EA780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solidFill>
                  <a:schemeClr val="bg1"/>
                </a:solidFill>
              </a:rPr>
              <a:t>Bibliografie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328A5-D9D2-F9FC-CB3D-601C81943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ro-RO" dirty="0">
                <a:solidFill>
                  <a:schemeClr val="bg1"/>
                </a:solidFill>
              </a:rPr>
              <a:t>Dumitran Marius Adrian, Curs: Algoritmi Fundamentali, anul universitar 2025–2026</a:t>
            </a:r>
            <a:r>
              <a:rPr lang="en-GB" dirty="0">
                <a:solidFill>
                  <a:schemeClr val="bg1"/>
                </a:solidFill>
              </a:rPr>
              <a:t>, </a:t>
            </a:r>
            <a:r>
              <a:rPr lang="ro-RO" dirty="0">
                <a:solidFill>
                  <a:schemeClr val="bg1"/>
                </a:solidFill>
              </a:rPr>
              <a:t>Universitatea din București, Facultatea de Matematică și Informatică, Note de curs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„A Simple Havel–Hakimi Type Algorithm to Realize Graphical Degree Sequences of Directed Graphs” — P. L. Erdős, I. Miklós, Z. </a:t>
            </a:r>
            <a:r>
              <a:rPr lang="ro-RO" noProof="0" dirty="0">
                <a:solidFill>
                  <a:schemeClr val="bg1"/>
                </a:solidFill>
              </a:rPr>
              <a:t>Toroczkai </a:t>
            </a:r>
            <a:r>
              <a:rPr lang="en-GB" dirty="0">
                <a:solidFill>
                  <a:schemeClr val="bg1"/>
                </a:solidFill>
              </a:rPr>
              <a:t>(2010)</a:t>
            </a:r>
            <a:endParaRPr lang="ro-RO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o-RO" dirty="0">
                <a:solidFill>
                  <a:schemeClr val="bg1"/>
                </a:solidFill>
              </a:rPr>
              <a:t>https://d3gt.com/unit.html?havel-hakimi</a:t>
            </a:r>
          </a:p>
          <a:p>
            <a:pPr marL="0" indent="0">
              <a:buNone/>
            </a:pPr>
            <a:endParaRPr lang="ro-RO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513878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0D94DE34D6134AB4DB1DB59F5B5DAF" ma:contentTypeVersion="3" ma:contentTypeDescription="Create a new document." ma:contentTypeScope="" ma:versionID="a24da269fcca2a905fc9c8ad0066c42c">
  <xsd:schema xmlns:xsd="http://www.w3.org/2001/XMLSchema" xmlns:xs="http://www.w3.org/2001/XMLSchema" xmlns:p="http://schemas.microsoft.com/office/2006/metadata/properties" xmlns:ns2="97c90f05-350d-4a78-bf08-e84d2709cbc1" targetNamespace="http://schemas.microsoft.com/office/2006/metadata/properties" ma:root="true" ma:fieldsID="06b7b4207b8b883b4ffcfbd92386e0fc" ns2:_="">
    <xsd:import namespace="97c90f05-350d-4a78-bf08-e84d2709cb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c90f05-350d-4a78-bf08-e84d2709cb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0E8E4E6-AA7E-403A-94D3-9C89347C8601}"/>
</file>

<file path=customXml/itemProps2.xml><?xml version="1.0" encoding="utf-8"?>
<ds:datastoreItem xmlns:ds="http://schemas.openxmlformats.org/officeDocument/2006/customXml" ds:itemID="{05517A35-ADE5-4A32-8A40-3EB1A2A8C72B}"/>
</file>

<file path=customXml/itemProps3.xml><?xml version="1.0" encoding="utf-8"?>
<ds:datastoreItem xmlns:ds="http://schemas.openxmlformats.org/officeDocument/2006/customXml" ds:itemID="{AFC3688F-441D-4C87-A469-7468DE9E27A1}"/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5572</TotalTime>
  <Words>550</Words>
  <Application>Microsoft Office PowerPoint</Application>
  <PresentationFormat>Widescreen</PresentationFormat>
  <Paragraphs>83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Cambria Math</vt:lpstr>
      <vt:lpstr>Corbel</vt:lpstr>
      <vt:lpstr>Georgia</vt:lpstr>
      <vt:lpstr>Wingdings</vt:lpstr>
      <vt:lpstr>Parallax</vt:lpstr>
      <vt:lpstr>Construirea Grafurilor Orientate din Grade de Intrare și Ieșire</vt:lpstr>
      <vt:lpstr>Teorema Havel-Hakimi (pentru grafuri neorientate)</vt:lpstr>
      <vt:lpstr>Algoritmul Havel-Hakimi (pentru grafuri neorientate)</vt:lpstr>
      <vt:lpstr>Adaptare pentru grafuri orientate</vt:lpstr>
      <vt:lpstr>Adaptare pentru grafuri orientate</vt:lpstr>
      <vt:lpstr>Adaptare pentru grafuri orientate</vt:lpstr>
      <vt:lpstr>Bibliografie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Iulia Maria Popescu</dc:creator>
  <cp:lastModifiedBy>Iulia Maria Popescu</cp:lastModifiedBy>
  <cp:revision>11</cp:revision>
  <dcterms:created xsi:type="dcterms:W3CDTF">2025-11-27T07:50:23Z</dcterms:created>
  <dcterms:modified xsi:type="dcterms:W3CDTF">2025-12-05T09:19:53Z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0x010100810D94DE34D6134AB4DB1DB59F5B5DAF</vt:lpwstr>
  </property>
</Properties>
</file>